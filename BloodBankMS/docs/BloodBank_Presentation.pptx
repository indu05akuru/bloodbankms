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Introduce the team and the project. One sentence: LifeDrop connects donors, hospitals and the blood bank so blood is found quickly and not wasted.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Explain the four problems in your own words. Finish with the problem statement in the red line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Each role logs in with the same login page but sees a different menu. The server also checks the role on every request, so a donor cannot open admin pages.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We read about eRaktKosh and Max Healthcare. The biggest idea we took is that useful information, such as blood availability and camps, should be visible before login. We also adopted Max's donor criteria, including the haemoglobin rule and the different gap for men and women.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or 3: Do not read the cards. Pick three that matter most: eligibility, FIFO issue and the public home page, and say why each one helps.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or 5: Inspired by eRaktKosh, where blood availability is visible without login. Our ticker and tiles update from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If asked why not Django: Django is excellent for large full stack apps, but we wanted a clean REST API with a separate frontend, and FastAPI gives validation and documentation for free. If asked why SQLite: no installation, one file, same SQL as MySQL.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Walk top to bottom. Four kinds of visitors use the browser. JavaScript calls the REST API with JSON. FastAPI applies the rules and talks to SQLite. Mention that passwords are hashed and every endpoint checks the role.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5: Start from users, which links one to one with donors and hospitals. Then explain blood_units as the most important table. Mention foreign keys are enabled and CHECK constraints restrict status values. The full diagram with all columns is in the project document.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This is the heart of the project. Say the three bullets, then promise the live demo of this exact flow.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These criteria match the donor guidance published by Max Healthcare and common national guidelines. Explain that the check happens on the server so it cannot be bypassed from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Read the function top to bottom: four checks, one result. The same function is reused in three places, which is why we kept it separate.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Point to ORDER BY expiry_date and explain FIFO. Then point to the question marks and explain parameterised queries protect against SQL injection.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Left side is how a route is locked to a role. Right side is how the browser sends the login token with each request. Mention hashing and that wrong role returns 403.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Show this live if possible. Point at the red bars and the alerts list.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and Member 4: Donor side first, then hospital side.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5: Click Demo mode at the bottom right. Use Next step or the arrow keys. It logs in for you, so nobody types passwords on stage.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members: Follow the demo script in the project document, section 15.3, or use the Demo mode guide. Backup: the screenshots in the docs folder.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5: The full list of test cases is in section 13 of the project document. Mention that tests were run against the API and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Member 1 to 5 with real names. Each person says one sentence about what they built.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5: Mention that we kept the built version simple on purpose so everything shown works reliably.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app running in the background in case examiners ask to see a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C62828"/>
        </a:solidFill>
        <a:effectLst/>
      </p:bgPr>
    </p:bg>
    <p:spTree>
      <p:nvGrpSpPr>
        <p:cNvPr id="1" name=""/>
        <p:cNvGrpSpPr/>
        <p:nvPr/>
      </p:nvGrpSpPr>
      <p:grpSpPr/>
      <p:pic>
        <p:nvPicPr>
          <p:cNvPr id="2" name="Picture 1" descr="logo-full-light.png"/>
          <p:cNvPicPr>
            <a:picLocks noChangeAspect="1"/>
          </p:cNvPicPr>
          <p:nvPr/>
        </p:nvPicPr>
        <p:blipFill>
          <a:blip r:embed="rId2"/>
          <a:stretch>
            <a:fillRect/>
          </a:stretch>
        </p:blipFill>
        <p:spPr>
          <a:xfrm>
            <a:off x="640080" y="548640"/>
            <a:ext cx="3943350" cy="1051560"/>
          </a:xfrm>
          <a:prstGeom prst="rect">
            <a:avLst/>
          </a:prstGeom>
        </p:spPr>
      </p:pic>
      <p:sp>
        <p:nvSpPr>
          <p:cNvPr id="3" name="TextBox 2"/>
          <p:cNvSpPr txBox="1"/>
          <p:nvPr/>
        </p:nvSpPr>
        <p:spPr>
          <a:xfrm>
            <a:off x="640080" y="2103120"/>
            <a:ext cx="7315200" cy="365760"/>
          </a:xfrm>
          <a:prstGeom prst="rect">
            <a:avLst/>
          </a:prstGeom>
          <a:noFill/>
        </p:spPr>
        <p:txBody>
          <a:bodyPr wrap="square" lIns="0" rIns="0" tIns="0" bIns="0" anchor="t">
            <a:spAutoFit/>
          </a:bodyPr>
          <a:lstStyle/>
          <a:p>
            <a:pPr algn="l"/>
            <a:r>
              <a:rPr sz="1400" b="1" i="0">
                <a:solidFill>
                  <a:srgbClr val="FFD7D3"/>
                </a:solidFill>
                <a:latin typeface="Calibri"/>
              </a:rPr>
              <a:t>COLLEGE PROJECT</a:t>
            </a:r>
          </a:p>
        </p:txBody>
      </p:sp>
      <p:sp>
        <p:nvSpPr>
          <p:cNvPr id="4" name="TextBox 3"/>
          <p:cNvSpPr txBox="1"/>
          <p:nvPr/>
        </p:nvSpPr>
        <p:spPr>
          <a:xfrm>
            <a:off x="640080" y="2514600"/>
            <a:ext cx="5669280" cy="1828800"/>
          </a:xfrm>
          <a:prstGeom prst="rect">
            <a:avLst/>
          </a:prstGeom>
          <a:noFill/>
        </p:spPr>
        <p:txBody>
          <a:bodyPr wrap="square" lIns="0" rIns="0" tIns="0" bIns="0" anchor="t">
            <a:spAutoFit/>
          </a:bodyPr>
          <a:lstStyle/>
          <a:p>
            <a:pPr algn="l"/>
            <a:r>
              <a:rPr sz="4600" b="1" i="0">
                <a:solidFill>
                  <a:srgbClr val="FFFFFF"/>
                </a:solidFill>
                <a:latin typeface="Calibri"/>
              </a:rPr>
              <a:t>Blood Bank</a:t>
            </a:r>
          </a:p>
          <a:p>
            <a:pPr algn="l"/>
            <a:r>
              <a:rPr sz="4600" b="1" i="0">
                <a:solidFill>
                  <a:srgbClr val="FFFFFF"/>
                </a:solidFill>
                <a:latin typeface="Calibri"/>
              </a:rPr>
              <a:t>Management System</a:t>
            </a:r>
          </a:p>
        </p:txBody>
      </p:sp>
      <p:sp>
        <p:nvSpPr>
          <p:cNvPr id="5" name="TextBox 4"/>
          <p:cNvSpPr txBox="1"/>
          <p:nvPr/>
        </p:nvSpPr>
        <p:spPr>
          <a:xfrm>
            <a:off x="640080" y="4434840"/>
            <a:ext cx="5120640" cy="822960"/>
          </a:xfrm>
          <a:prstGeom prst="rect">
            <a:avLst/>
          </a:prstGeom>
          <a:noFill/>
        </p:spPr>
        <p:txBody>
          <a:bodyPr wrap="square" lIns="0" rIns="0" tIns="0" bIns="0" anchor="t">
            <a:spAutoFit/>
          </a:bodyPr>
          <a:lstStyle/>
          <a:p>
            <a:pPr algn="l"/>
            <a:r>
              <a:rPr sz="1800" b="0" i="0">
                <a:solidFill>
                  <a:srgbClr val="FFE9E7"/>
                </a:solidFill>
                <a:latin typeface="Calibri"/>
              </a:rPr>
              <a:t>Live stock, donors, hospital requests and donation camps in one web application</a:t>
            </a:r>
          </a:p>
        </p:txBody>
      </p:sp>
      <p:sp>
        <p:nvSpPr>
          <p:cNvPr id="6" name="TextBox 5"/>
          <p:cNvSpPr txBox="1"/>
          <p:nvPr/>
        </p:nvSpPr>
        <p:spPr>
          <a:xfrm>
            <a:off x="640080" y="5440680"/>
            <a:ext cx="5852160" cy="365760"/>
          </a:xfrm>
          <a:prstGeom prst="rect">
            <a:avLst/>
          </a:prstGeom>
          <a:noFill/>
        </p:spPr>
        <p:txBody>
          <a:bodyPr wrap="square" lIns="0" rIns="0" tIns="0" bIns="0" anchor="t">
            <a:spAutoFit/>
          </a:bodyPr>
          <a:lstStyle/>
          <a:p>
            <a:pPr algn="l"/>
            <a:r>
              <a:rPr sz="1400" b="1" i="0">
                <a:solidFill>
                  <a:srgbClr val="FFFFFF"/>
                </a:solidFill>
                <a:latin typeface="Calibri"/>
              </a:rPr>
              <a:t>HTML  |  CSS  |  JavaScript  |  Python FastAPI  |  SQLite</a:t>
            </a:r>
          </a:p>
        </p:txBody>
      </p:sp>
      <p:sp>
        <p:nvSpPr>
          <p:cNvPr id="7" name="TextBox 6"/>
          <p:cNvSpPr txBox="1"/>
          <p:nvPr/>
        </p:nvSpPr>
        <p:spPr>
          <a:xfrm>
            <a:off x="640080" y="6126480"/>
            <a:ext cx="6400800" cy="365760"/>
          </a:xfrm>
          <a:prstGeom prst="rect">
            <a:avLst/>
          </a:prstGeom>
          <a:noFill/>
        </p:spPr>
        <p:txBody>
          <a:bodyPr wrap="square" lIns="0" rIns="0" tIns="0" bIns="0" anchor="t">
            <a:spAutoFit/>
          </a:bodyPr>
          <a:lstStyle/>
          <a:p>
            <a:pPr algn="l"/>
            <a:r>
              <a:rPr sz="1300" b="0" i="0">
                <a:solidFill>
                  <a:srgbClr val="FFD7D3"/>
                </a:solidFill>
                <a:latin typeface="Calibri"/>
              </a:rPr>
              <a:t>Team of 5   |   Guide: ____________   |   College: ____________</a:t>
            </a:r>
          </a:p>
        </p:txBody>
      </p:sp>
      <p:sp>
        <p:nvSpPr>
          <p:cNvPr id="8" name="Rectangle 7"/>
          <p:cNvSpPr/>
          <p:nvPr/>
        </p:nvSpPr>
        <p:spPr>
          <a:xfrm>
            <a:off x="6355080" y="1325880"/>
            <a:ext cx="5257800" cy="3108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ifeDrop public home page"/>
          <p:cNvPicPr>
            <a:picLocks noChangeAspect="1"/>
          </p:cNvPicPr>
          <p:nvPr/>
        </p:nvPicPr>
        <p:blipFill>
          <a:blip r:embed="rId3"/>
          <a:stretch>
            <a:fillRect/>
          </a:stretch>
        </p:blipFill>
        <p:spPr>
          <a:xfrm>
            <a:off x="6485839" y="1417320"/>
            <a:ext cx="4996281" cy="2926080"/>
          </a:xfrm>
          <a:prstGeom prst="rect">
            <a:avLst/>
          </a:prstGeom>
        </p:spPr>
      </p:pic>
      <p:sp>
        <p:nvSpPr>
          <p:cNvPr id="10" name="TextBox 9"/>
          <p:cNvSpPr txBox="1"/>
          <p:nvPr/>
        </p:nvSpPr>
        <p:spPr>
          <a:xfrm>
            <a:off x="6355080" y="4572000"/>
            <a:ext cx="5257800" cy="365760"/>
          </a:xfrm>
          <a:prstGeom prst="rect">
            <a:avLst/>
          </a:prstGeom>
          <a:noFill/>
        </p:spPr>
        <p:txBody>
          <a:bodyPr wrap="square" lIns="0" rIns="0" tIns="0" bIns="0" anchor="t">
            <a:spAutoFit/>
          </a:bodyPr>
          <a:lstStyle/>
          <a:p>
            <a:pPr algn="l"/>
            <a:r>
              <a:rPr sz="1300" b="0" i="0">
                <a:solidFill>
                  <a:srgbClr val="FFD7D3"/>
                </a:solidFill>
                <a:latin typeface="Calibri"/>
              </a:rPr>
              <a:t>Public home page: live ticker, availability and counters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THE PROBLEM</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Paper records make blood hard to find and easy to waste</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2</a:t>
            </a:r>
          </a:p>
        </p:txBody>
      </p:sp>
      <p:sp>
        <p:nvSpPr>
          <p:cNvPr id="6" name="Rectangle 5"/>
          <p:cNvSpPr/>
          <p:nvPr/>
        </p:nvSpPr>
        <p:spPr>
          <a:xfrm>
            <a:off x="640080" y="2011680"/>
            <a:ext cx="2522143" cy="301752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2011680"/>
            <a:ext cx="2522143" cy="1097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2331720"/>
            <a:ext cx="914400" cy="548640"/>
          </a:xfrm>
          <a:prstGeom prst="rect">
            <a:avLst/>
          </a:prstGeom>
          <a:noFill/>
        </p:spPr>
        <p:txBody>
          <a:bodyPr wrap="square" lIns="0" rIns="0" tIns="0" bIns="0" anchor="t">
            <a:spAutoFit/>
          </a:bodyPr>
          <a:lstStyle/>
          <a:p>
            <a:pPr algn="l"/>
            <a:r>
              <a:rPr sz="3400" b="1" i="0">
                <a:solidFill>
                  <a:srgbClr val="C62828"/>
                </a:solidFill>
                <a:latin typeface="Calibri"/>
              </a:rPr>
              <a:t>1</a:t>
            </a:r>
          </a:p>
        </p:txBody>
      </p:sp>
      <p:sp>
        <p:nvSpPr>
          <p:cNvPr id="9" name="TextBox 8"/>
          <p:cNvSpPr txBox="1"/>
          <p:nvPr/>
        </p:nvSpPr>
        <p:spPr>
          <a:xfrm>
            <a:off x="914400" y="3017520"/>
            <a:ext cx="1973503" cy="731520"/>
          </a:xfrm>
          <a:prstGeom prst="rect">
            <a:avLst/>
          </a:prstGeom>
          <a:noFill/>
        </p:spPr>
        <p:txBody>
          <a:bodyPr wrap="square" lIns="0" rIns="0" tIns="0" bIns="0" anchor="t">
            <a:spAutoFit/>
          </a:bodyPr>
          <a:lstStyle/>
          <a:p>
            <a:pPr algn="l"/>
            <a:r>
              <a:rPr sz="2000" b="1" i="0">
                <a:solidFill>
                  <a:srgbClr val="1F2933"/>
                </a:solidFill>
                <a:latin typeface="Calibri"/>
              </a:rPr>
              <a:t>Stock is invisible</a:t>
            </a:r>
          </a:p>
        </p:txBody>
      </p:sp>
      <p:sp>
        <p:nvSpPr>
          <p:cNvPr id="10" name="TextBox 9"/>
          <p:cNvSpPr txBox="1"/>
          <p:nvPr/>
        </p:nvSpPr>
        <p:spPr>
          <a:xfrm>
            <a:off x="914400" y="3749039"/>
            <a:ext cx="1973503" cy="1280160"/>
          </a:xfrm>
          <a:prstGeom prst="rect">
            <a:avLst/>
          </a:prstGeom>
          <a:noFill/>
        </p:spPr>
        <p:txBody>
          <a:bodyPr wrap="square" lIns="0" rIns="0" tIns="0" bIns="0" anchor="t">
            <a:spAutoFit/>
          </a:bodyPr>
          <a:lstStyle/>
          <a:p>
            <a:pPr algn="l"/>
            <a:r>
              <a:rPr sz="1500" b="0" i="0">
                <a:solidFill>
                  <a:srgbClr val="5F6B78"/>
                </a:solidFill>
                <a:latin typeface="Calibri"/>
              </a:rPr>
              <a:t>Hospitals phone several blood banks to learn whether a group is available.</a:t>
            </a:r>
          </a:p>
        </p:txBody>
      </p:sp>
      <p:sp>
        <p:nvSpPr>
          <p:cNvPr id="11" name="Rectangle 10"/>
          <p:cNvSpPr/>
          <p:nvPr/>
        </p:nvSpPr>
        <p:spPr>
          <a:xfrm>
            <a:off x="3436543" y="2011680"/>
            <a:ext cx="2522143" cy="301752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436543" y="2011680"/>
            <a:ext cx="2522143" cy="1097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10863" y="2331720"/>
            <a:ext cx="914400" cy="548640"/>
          </a:xfrm>
          <a:prstGeom prst="rect">
            <a:avLst/>
          </a:prstGeom>
          <a:noFill/>
        </p:spPr>
        <p:txBody>
          <a:bodyPr wrap="square" lIns="0" rIns="0" tIns="0" bIns="0" anchor="t">
            <a:spAutoFit/>
          </a:bodyPr>
          <a:lstStyle/>
          <a:p>
            <a:pPr algn="l"/>
            <a:r>
              <a:rPr sz="3400" b="1" i="0">
                <a:solidFill>
                  <a:srgbClr val="C62828"/>
                </a:solidFill>
                <a:latin typeface="Calibri"/>
              </a:rPr>
              <a:t>2</a:t>
            </a:r>
          </a:p>
        </p:txBody>
      </p:sp>
      <p:sp>
        <p:nvSpPr>
          <p:cNvPr id="14" name="TextBox 13"/>
          <p:cNvSpPr txBox="1"/>
          <p:nvPr/>
        </p:nvSpPr>
        <p:spPr>
          <a:xfrm>
            <a:off x="3710863" y="3017520"/>
            <a:ext cx="1973503" cy="731520"/>
          </a:xfrm>
          <a:prstGeom prst="rect">
            <a:avLst/>
          </a:prstGeom>
          <a:noFill/>
        </p:spPr>
        <p:txBody>
          <a:bodyPr wrap="square" lIns="0" rIns="0" tIns="0" bIns="0" anchor="t">
            <a:spAutoFit/>
          </a:bodyPr>
          <a:lstStyle/>
          <a:p>
            <a:pPr algn="l"/>
            <a:r>
              <a:rPr sz="2000" b="1" i="0">
                <a:solidFill>
                  <a:srgbClr val="1F2933"/>
                </a:solidFill>
                <a:latin typeface="Calibri"/>
              </a:rPr>
              <a:t>Blood expires unnoticed</a:t>
            </a:r>
          </a:p>
        </p:txBody>
      </p:sp>
      <p:sp>
        <p:nvSpPr>
          <p:cNvPr id="15" name="TextBox 14"/>
          <p:cNvSpPr txBox="1"/>
          <p:nvPr/>
        </p:nvSpPr>
        <p:spPr>
          <a:xfrm>
            <a:off x="3710863" y="3749039"/>
            <a:ext cx="1973503" cy="1280160"/>
          </a:xfrm>
          <a:prstGeom prst="rect">
            <a:avLst/>
          </a:prstGeom>
          <a:noFill/>
        </p:spPr>
        <p:txBody>
          <a:bodyPr wrap="square" lIns="0" rIns="0" tIns="0" bIns="0" anchor="t">
            <a:spAutoFit/>
          </a:bodyPr>
          <a:lstStyle/>
          <a:p>
            <a:pPr algn="l"/>
            <a:r>
              <a:rPr sz="1500" b="0" i="0">
                <a:solidFill>
                  <a:srgbClr val="5F6B78"/>
                </a:solidFill>
                <a:latin typeface="Calibri"/>
              </a:rPr>
              <a:t>A unit lasts only 42 days. Without tracking, units are thrown away.</a:t>
            </a:r>
          </a:p>
        </p:txBody>
      </p:sp>
      <p:sp>
        <p:nvSpPr>
          <p:cNvPr id="16" name="Rectangle 15"/>
          <p:cNvSpPr/>
          <p:nvPr/>
        </p:nvSpPr>
        <p:spPr>
          <a:xfrm>
            <a:off x="6233007" y="2011680"/>
            <a:ext cx="2522143" cy="301752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33007" y="2011680"/>
            <a:ext cx="2522143" cy="1097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07327" y="2331720"/>
            <a:ext cx="914400" cy="548640"/>
          </a:xfrm>
          <a:prstGeom prst="rect">
            <a:avLst/>
          </a:prstGeom>
          <a:noFill/>
        </p:spPr>
        <p:txBody>
          <a:bodyPr wrap="square" lIns="0" rIns="0" tIns="0" bIns="0" anchor="t">
            <a:spAutoFit/>
          </a:bodyPr>
          <a:lstStyle/>
          <a:p>
            <a:pPr algn="l"/>
            <a:r>
              <a:rPr sz="3400" b="1" i="0">
                <a:solidFill>
                  <a:srgbClr val="C62828"/>
                </a:solidFill>
                <a:latin typeface="Calibri"/>
              </a:rPr>
              <a:t>3</a:t>
            </a:r>
          </a:p>
        </p:txBody>
      </p:sp>
      <p:sp>
        <p:nvSpPr>
          <p:cNvPr id="19" name="TextBox 18"/>
          <p:cNvSpPr txBox="1"/>
          <p:nvPr/>
        </p:nvSpPr>
        <p:spPr>
          <a:xfrm>
            <a:off x="6507327" y="3017520"/>
            <a:ext cx="1973503" cy="731520"/>
          </a:xfrm>
          <a:prstGeom prst="rect">
            <a:avLst/>
          </a:prstGeom>
          <a:noFill/>
        </p:spPr>
        <p:txBody>
          <a:bodyPr wrap="square" lIns="0" rIns="0" tIns="0" bIns="0" anchor="t">
            <a:spAutoFit/>
          </a:bodyPr>
          <a:lstStyle/>
          <a:p>
            <a:pPr algn="l"/>
            <a:r>
              <a:rPr sz="2000" b="1" i="0">
                <a:solidFill>
                  <a:srgbClr val="1F2933"/>
                </a:solidFill>
                <a:latin typeface="Calibri"/>
              </a:rPr>
              <a:t>Donors are unmanaged</a:t>
            </a:r>
          </a:p>
        </p:txBody>
      </p:sp>
      <p:sp>
        <p:nvSpPr>
          <p:cNvPr id="20" name="TextBox 19"/>
          <p:cNvSpPr txBox="1"/>
          <p:nvPr/>
        </p:nvSpPr>
        <p:spPr>
          <a:xfrm>
            <a:off x="6507327" y="3749039"/>
            <a:ext cx="1973503" cy="1280160"/>
          </a:xfrm>
          <a:prstGeom prst="rect">
            <a:avLst/>
          </a:prstGeom>
          <a:noFill/>
        </p:spPr>
        <p:txBody>
          <a:bodyPr wrap="square" lIns="0" rIns="0" tIns="0" bIns="0" anchor="t">
            <a:spAutoFit/>
          </a:bodyPr>
          <a:lstStyle/>
          <a:p>
            <a:pPr algn="l"/>
            <a:r>
              <a:rPr sz="1500" b="0" i="0">
                <a:solidFill>
                  <a:srgbClr val="5F6B78"/>
                </a:solidFill>
                <a:latin typeface="Calibri"/>
              </a:rPr>
              <a:t>Nobody tracks who may donate again, so donors are called too early or forgotten.</a:t>
            </a:r>
          </a:p>
        </p:txBody>
      </p:sp>
      <p:sp>
        <p:nvSpPr>
          <p:cNvPr id="21" name="Rectangle 20"/>
          <p:cNvSpPr/>
          <p:nvPr/>
        </p:nvSpPr>
        <p:spPr>
          <a:xfrm>
            <a:off x="9029471" y="2011680"/>
            <a:ext cx="2522143" cy="301752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029471" y="2011680"/>
            <a:ext cx="2522143" cy="1097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03791" y="2331720"/>
            <a:ext cx="914400" cy="548640"/>
          </a:xfrm>
          <a:prstGeom prst="rect">
            <a:avLst/>
          </a:prstGeom>
          <a:noFill/>
        </p:spPr>
        <p:txBody>
          <a:bodyPr wrap="square" lIns="0" rIns="0" tIns="0" bIns="0" anchor="t">
            <a:spAutoFit/>
          </a:bodyPr>
          <a:lstStyle/>
          <a:p>
            <a:pPr algn="l"/>
            <a:r>
              <a:rPr sz="3400" b="1" i="0">
                <a:solidFill>
                  <a:srgbClr val="C62828"/>
                </a:solidFill>
                <a:latin typeface="Calibri"/>
              </a:rPr>
              <a:t>4</a:t>
            </a:r>
          </a:p>
        </p:txBody>
      </p:sp>
      <p:sp>
        <p:nvSpPr>
          <p:cNvPr id="24" name="TextBox 23"/>
          <p:cNvSpPr txBox="1"/>
          <p:nvPr/>
        </p:nvSpPr>
        <p:spPr>
          <a:xfrm>
            <a:off x="9303791" y="3017520"/>
            <a:ext cx="1973503" cy="731520"/>
          </a:xfrm>
          <a:prstGeom prst="rect">
            <a:avLst/>
          </a:prstGeom>
          <a:noFill/>
        </p:spPr>
        <p:txBody>
          <a:bodyPr wrap="square" lIns="0" rIns="0" tIns="0" bIns="0" anchor="t">
            <a:spAutoFit/>
          </a:bodyPr>
          <a:lstStyle/>
          <a:p>
            <a:pPr algn="l"/>
            <a:r>
              <a:rPr sz="2000" b="1" i="0">
                <a:solidFill>
                  <a:srgbClr val="1F2933"/>
                </a:solidFill>
                <a:latin typeface="Calibri"/>
              </a:rPr>
              <a:t>Requests are slow</a:t>
            </a:r>
          </a:p>
        </p:txBody>
      </p:sp>
      <p:sp>
        <p:nvSpPr>
          <p:cNvPr id="25" name="TextBox 24"/>
          <p:cNvSpPr txBox="1"/>
          <p:nvPr/>
        </p:nvSpPr>
        <p:spPr>
          <a:xfrm>
            <a:off x="9303791" y="3749039"/>
            <a:ext cx="1973503" cy="1280160"/>
          </a:xfrm>
          <a:prstGeom prst="rect">
            <a:avLst/>
          </a:prstGeom>
          <a:noFill/>
        </p:spPr>
        <p:txBody>
          <a:bodyPr wrap="square" lIns="0" rIns="0" tIns="0" bIns="0" anchor="t">
            <a:spAutoFit/>
          </a:bodyPr>
          <a:lstStyle/>
          <a:p>
            <a:pPr algn="l"/>
            <a:r>
              <a:rPr sz="1500" b="0" i="0">
                <a:solidFill>
                  <a:srgbClr val="5F6B78"/>
                </a:solidFill>
                <a:latin typeface="Calibri"/>
              </a:rPr>
              <a:t>Emergencies run on phone calls and paper forms, with no priority and no record.</a:t>
            </a:r>
          </a:p>
        </p:txBody>
      </p:sp>
      <p:sp>
        <p:nvSpPr>
          <p:cNvPr id="26" name="TextBox 25"/>
          <p:cNvSpPr txBox="1"/>
          <p:nvPr/>
        </p:nvSpPr>
        <p:spPr>
          <a:xfrm>
            <a:off x="640080" y="5440680"/>
            <a:ext cx="10911535" cy="731520"/>
          </a:xfrm>
          <a:prstGeom prst="rect">
            <a:avLst/>
          </a:prstGeom>
          <a:noFill/>
        </p:spPr>
        <p:txBody>
          <a:bodyPr wrap="square" lIns="0" rIns="0" tIns="0" bIns="0" anchor="t">
            <a:spAutoFit/>
          </a:bodyPr>
          <a:lstStyle/>
          <a:p>
            <a:pPr algn="l"/>
            <a:r>
              <a:rPr sz="2000" b="1" i="0">
                <a:solidFill>
                  <a:srgbClr val="8E0000"/>
                </a:solidFill>
                <a:latin typeface="Calibri"/>
              </a:rPr>
              <a:t>Our answer: one web system that keeps live stock, manages donors and camps, and lets hospitals request blood online.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USERS AND OBJECTIVES</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Three roles share one system, each with its own screens</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3</a:t>
            </a:r>
          </a:p>
        </p:txBody>
      </p:sp>
      <p:sp>
        <p:nvSpPr>
          <p:cNvPr id="6" name="Rectangle 5"/>
          <p:cNvSpPr/>
          <p:nvPr/>
        </p:nvSpPr>
        <p:spPr>
          <a:xfrm>
            <a:off x="640080" y="1965960"/>
            <a:ext cx="3423818" cy="411480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1965960"/>
            <a:ext cx="3423818" cy="1005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2103120"/>
            <a:ext cx="2875178" cy="457200"/>
          </a:xfrm>
          <a:prstGeom prst="rect">
            <a:avLst/>
          </a:prstGeom>
          <a:noFill/>
        </p:spPr>
        <p:txBody>
          <a:bodyPr wrap="square" lIns="0" rIns="0" tIns="0" bIns="0" anchor="t">
            <a:spAutoFit/>
          </a:bodyPr>
          <a:lstStyle/>
          <a:p>
            <a:pPr algn="l"/>
            <a:r>
              <a:rPr sz="2600" b="1" i="0">
                <a:solidFill>
                  <a:srgbClr val="FFFFFF"/>
                </a:solidFill>
                <a:latin typeface="Calibri"/>
              </a:rPr>
              <a:t>Admin</a:t>
            </a:r>
          </a:p>
        </p:txBody>
      </p:sp>
      <p:sp>
        <p:nvSpPr>
          <p:cNvPr id="9" name="TextBox 8"/>
          <p:cNvSpPr txBox="1"/>
          <p:nvPr/>
        </p:nvSpPr>
        <p:spPr>
          <a:xfrm>
            <a:off x="914400" y="2578608"/>
            <a:ext cx="2875178" cy="320040"/>
          </a:xfrm>
          <a:prstGeom prst="rect">
            <a:avLst/>
          </a:prstGeom>
          <a:noFill/>
        </p:spPr>
        <p:txBody>
          <a:bodyPr wrap="square" lIns="0" rIns="0" tIns="0" bIns="0" anchor="t">
            <a:spAutoFit/>
          </a:bodyPr>
          <a:lstStyle/>
          <a:p>
            <a:pPr algn="l"/>
            <a:r>
              <a:rPr sz="1400" b="0" i="0">
                <a:solidFill>
                  <a:srgbClr val="FFFFFF"/>
                </a:solidFill>
                <a:latin typeface="Calibri"/>
              </a:rPr>
              <a:t>Blood bank staff</a:t>
            </a:r>
          </a:p>
        </p:txBody>
      </p:sp>
      <p:sp>
        <p:nvSpPr>
          <p:cNvPr id="10" name="TextBox 9"/>
          <p:cNvSpPr txBox="1"/>
          <p:nvPr/>
        </p:nvSpPr>
        <p:spPr>
          <a:xfrm>
            <a:off x="914400" y="3291840"/>
            <a:ext cx="2875178" cy="2651760"/>
          </a:xfrm>
          <a:prstGeom prst="rect">
            <a:avLst/>
          </a:prstGeom>
          <a:noFill/>
        </p:spPr>
        <p:txBody>
          <a:bodyPr wrap="square" lIns="0" rIns="0" tIns="0" bIns="0">
            <a:spAutoFit/>
          </a:bodyPr>
          <a:lstStyle/>
          <a:p>
            <a:pPr marL="256032" indent="-256032">
              <a:spcAft>
                <a:spcPts val="1000"/>
              </a:spcAft>
              <a:buClr>
                <a:srgbClr val="C62828"/>
              </a:buClr>
              <a:buChar char="•"/>
            </a:pPr>
            <a:r>
              <a:rPr sz="1700">
                <a:solidFill>
                  <a:srgbClr val="1F2933"/>
                </a:solidFill>
                <a:latin typeface="Calibri"/>
              </a:rPr>
              <a:t>Dashboard with charts and alerts</a:t>
            </a:r>
          </a:p>
          <a:p>
            <a:pPr marL="256032" indent="-256032">
              <a:spcAft>
                <a:spcPts val="1000"/>
              </a:spcAft>
              <a:buClr>
                <a:srgbClr val="C62828"/>
              </a:buClr>
              <a:buChar char="•"/>
            </a:pPr>
            <a:r>
              <a:rPr sz="1700">
                <a:solidFill>
                  <a:srgbClr val="1F2933"/>
                </a:solidFill>
                <a:latin typeface="Calibri"/>
              </a:rPr>
              <a:t>Manage blood stock and expiry</a:t>
            </a:r>
          </a:p>
          <a:p>
            <a:pPr marL="256032" indent="-256032">
              <a:spcAft>
                <a:spcPts val="1000"/>
              </a:spcAft>
              <a:buClr>
                <a:srgbClr val="C62828"/>
              </a:buClr>
              <a:buChar char="•"/>
            </a:pPr>
            <a:r>
              <a:rPr sz="1700">
                <a:solidFill>
                  <a:srgbClr val="1F2933"/>
                </a:solidFill>
                <a:latin typeface="Calibri"/>
              </a:rPr>
              <a:t>Approve or reject requests</a:t>
            </a:r>
          </a:p>
          <a:p>
            <a:pPr marL="256032" indent="-256032">
              <a:spcAft>
                <a:spcPts val="1000"/>
              </a:spcAft>
              <a:buClr>
                <a:srgbClr val="C62828"/>
              </a:buClr>
              <a:buChar char="•"/>
            </a:pPr>
            <a:r>
              <a:rPr sz="1700">
                <a:solidFill>
                  <a:srgbClr val="1F2933"/>
                </a:solidFill>
                <a:latin typeface="Calibri"/>
              </a:rPr>
              <a:t>Create camps, record donations</a:t>
            </a:r>
          </a:p>
        </p:txBody>
      </p:sp>
      <p:sp>
        <p:nvSpPr>
          <p:cNvPr id="11" name="Rectangle 10"/>
          <p:cNvSpPr/>
          <p:nvPr/>
        </p:nvSpPr>
        <p:spPr>
          <a:xfrm>
            <a:off x="4383938" y="1965960"/>
            <a:ext cx="3423818" cy="411480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83938" y="1965960"/>
            <a:ext cx="3423818" cy="100584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58258" y="2103120"/>
            <a:ext cx="2875178" cy="457200"/>
          </a:xfrm>
          <a:prstGeom prst="rect">
            <a:avLst/>
          </a:prstGeom>
          <a:noFill/>
        </p:spPr>
        <p:txBody>
          <a:bodyPr wrap="square" lIns="0" rIns="0" tIns="0" bIns="0" anchor="t">
            <a:spAutoFit/>
          </a:bodyPr>
          <a:lstStyle/>
          <a:p>
            <a:pPr algn="l"/>
            <a:r>
              <a:rPr sz="2600" b="1" i="0">
                <a:solidFill>
                  <a:srgbClr val="FFFFFF"/>
                </a:solidFill>
                <a:latin typeface="Calibri"/>
              </a:rPr>
              <a:t>Donor</a:t>
            </a:r>
          </a:p>
        </p:txBody>
      </p:sp>
      <p:sp>
        <p:nvSpPr>
          <p:cNvPr id="14" name="TextBox 13"/>
          <p:cNvSpPr txBox="1"/>
          <p:nvPr/>
        </p:nvSpPr>
        <p:spPr>
          <a:xfrm>
            <a:off x="4658258" y="2578608"/>
            <a:ext cx="2875178" cy="320040"/>
          </a:xfrm>
          <a:prstGeom prst="rect">
            <a:avLst/>
          </a:prstGeom>
          <a:noFill/>
        </p:spPr>
        <p:txBody>
          <a:bodyPr wrap="square" lIns="0" rIns="0" tIns="0" bIns="0" anchor="t">
            <a:spAutoFit/>
          </a:bodyPr>
          <a:lstStyle/>
          <a:p>
            <a:pPr algn="l"/>
            <a:r>
              <a:rPr sz="1400" b="0" i="0">
                <a:solidFill>
                  <a:srgbClr val="FFFFFF"/>
                </a:solidFill>
                <a:latin typeface="Calibri"/>
              </a:rPr>
              <a:t>Public volunteers</a:t>
            </a:r>
          </a:p>
        </p:txBody>
      </p:sp>
      <p:sp>
        <p:nvSpPr>
          <p:cNvPr id="15" name="TextBox 14"/>
          <p:cNvSpPr txBox="1"/>
          <p:nvPr/>
        </p:nvSpPr>
        <p:spPr>
          <a:xfrm>
            <a:off x="4658258" y="3291840"/>
            <a:ext cx="2875178" cy="2651760"/>
          </a:xfrm>
          <a:prstGeom prst="rect">
            <a:avLst/>
          </a:prstGeom>
          <a:noFill/>
        </p:spPr>
        <p:txBody>
          <a:bodyPr wrap="square" lIns="0" rIns="0" tIns="0" bIns="0">
            <a:spAutoFit/>
          </a:bodyPr>
          <a:lstStyle/>
          <a:p>
            <a:pPr marL="256032" indent="-256032">
              <a:spcAft>
                <a:spcPts val="1000"/>
              </a:spcAft>
              <a:buClr>
                <a:srgbClr val="C62828"/>
              </a:buClr>
              <a:buChar char="•"/>
            </a:pPr>
            <a:r>
              <a:rPr sz="1700">
                <a:solidFill>
                  <a:srgbClr val="1F2933"/>
                </a:solidFill>
                <a:latin typeface="Calibri"/>
              </a:rPr>
              <a:t>Registers and sees eligibility</a:t>
            </a:r>
          </a:p>
          <a:p>
            <a:pPr marL="256032" indent="-256032">
              <a:spcAft>
                <a:spcPts val="1000"/>
              </a:spcAft>
              <a:buClr>
                <a:srgbClr val="C62828"/>
              </a:buClr>
              <a:buChar char="•"/>
            </a:pPr>
            <a:r>
              <a:rPr sz="1700">
                <a:solidFill>
                  <a:srgbClr val="1F2933"/>
                </a:solidFill>
                <a:latin typeface="Calibri"/>
              </a:rPr>
              <a:t>Books donation camps</a:t>
            </a:r>
          </a:p>
          <a:p>
            <a:pPr marL="256032" indent="-256032">
              <a:spcAft>
                <a:spcPts val="1000"/>
              </a:spcAft>
              <a:buClr>
                <a:srgbClr val="C62828"/>
              </a:buClr>
              <a:buChar char="•"/>
            </a:pPr>
            <a:r>
              <a:rPr sz="1700">
                <a:solidFill>
                  <a:srgbClr val="1F2933"/>
                </a:solidFill>
                <a:latin typeface="Calibri"/>
              </a:rPr>
              <a:t>Tracks donation history</a:t>
            </a:r>
          </a:p>
          <a:p>
            <a:pPr marL="256032" indent="-256032">
              <a:spcAft>
                <a:spcPts val="1000"/>
              </a:spcAft>
              <a:buClr>
                <a:srgbClr val="C62828"/>
              </a:buClr>
              <a:buChar char="•"/>
            </a:pPr>
            <a:r>
              <a:rPr sz="1700">
                <a:solidFill>
                  <a:srgbClr val="1F2933"/>
                </a:solidFill>
                <a:latin typeface="Calibri"/>
              </a:rPr>
              <a:t>Finds the next donation date</a:t>
            </a:r>
          </a:p>
        </p:txBody>
      </p:sp>
      <p:sp>
        <p:nvSpPr>
          <p:cNvPr id="16" name="Rectangle 15"/>
          <p:cNvSpPr/>
          <p:nvPr/>
        </p:nvSpPr>
        <p:spPr>
          <a:xfrm>
            <a:off x="8127796" y="1965960"/>
            <a:ext cx="3423818" cy="411480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127796" y="1965960"/>
            <a:ext cx="3423818"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02116" y="2103120"/>
            <a:ext cx="2875178" cy="457200"/>
          </a:xfrm>
          <a:prstGeom prst="rect">
            <a:avLst/>
          </a:prstGeom>
          <a:noFill/>
        </p:spPr>
        <p:txBody>
          <a:bodyPr wrap="square" lIns="0" rIns="0" tIns="0" bIns="0" anchor="t">
            <a:spAutoFit/>
          </a:bodyPr>
          <a:lstStyle/>
          <a:p>
            <a:pPr algn="l"/>
            <a:r>
              <a:rPr sz="2600" b="1" i="0">
                <a:solidFill>
                  <a:srgbClr val="FFFFFF"/>
                </a:solidFill>
                <a:latin typeface="Calibri"/>
              </a:rPr>
              <a:t>Hospital</a:t>
            </a:r>
          </a:p>
        </p:txBody>
      </p:sp>
      <p:sp>
        <p:nvSpPr>
          <p:cNvPr id="19" name="TextBox 18"/>
          <p:cNvSpPr txBox="1"/>
          <p:nvPr/>
        </p:nvSpPr>
        <p:spPr>
          <a:xfrm>
            <a:off x="8402116" y="2578608"/>
            <a:ext cx="2875178" cy="320040"/>
          </a:xfrm>
          <a:prstGeom prst="rect">
            <a:avLst/>
          </a:prstGeom>
          <a:noFill/>
        </p:spPr>
        <p:txBody>
          <a:bodyPr wrap="square" lIns="0" rIns="0" tIns="0" bIns="0" anchor="t">
            <a:spAutoFit/>
          </a:bodyPr>
          <a:lstStyle/>
          <a:p>
            <a:pPr algn="l"/>
            <a:r>
              <a:rPr sz="1400" b="0" i="0">
                <a:solidFill>
                  <a:srgbClr val="FFFFFF"/>
                </a:solidFill>
                <a:latin typeface="Calibri"/>
              </a:rPr>
              <a:t>Hospital blood desk</a:t>
            </a:r>
          </a:p>
        </p:txBody>
      </p:sp>
      <p:sp>
        <p:nvSpPr>
          <p:cNvPr id="20" name="TextBox 19"/>
          <p:cNvSpPr txBox="1"/>
          <p:nvPr/>
        </p:nvSpPr>
        <p:spPr>
          <a:xfrm>
            <a:off x="8402116" y="3291840"/>
            <a:ext cx="2875178" cy="2651760"/>
          </a:xfrm>
          <a:prstGeom prst="rect">
            <a:avLst/>
          </a:prstGeom>
          <a:noFill/>
        </p:spPr>
        <p:txBody>
          <a:bodyPr wrap="square" lIns="0" rIns="0" tIns="0" bIns="0">
            <a:spAutoFit/>
          </a:bodyPr>
          <a:lstStyle/>
          <a:p>
            <a:pPr marL="256032" indent="-256032">
              <a:spcAft>
                <a:spcPts val="1000"/>
              </a:spcAft>
              <a:buClr>
                <a:srgbClr val="C62828"/>
              </a:buClr>
              <a:buChar char="•"/>
            </a:pPr>
            <a:r>
              <a:rPr sz="1700">
                <a:solidFill>
                  <a:srgbClr val="1F2933"/>
                </a:solidFill>
                <a:latin typeface="Calibri"/>
              </a:rPr>
              <a:t>Sees live blood availability</a:t>
            </a:r>
          </a:p>
          <a:p>
            <a:pPr marL="256032" indent="-256032">
              <a:spcAft>
                <a:spcPts val="1000"/>
              </a:spcAft>
              <a:buClr>
                <a:srgbClr val="C62828"/>
              </a:buClr>
              <a:buChar char="•"/>
            </a:pPr>
            <a:r>
              <a:rPr sz="1700">
                <a:solidFill>
                  <a:srgbClr val="1F2933"/>
                </a:solidFill>
                <a:latin typeface="Calibri"/>
              </a:rPr>
              <a:t>Raises requests with urgency</a:t>
            </a:r>
          </a:p>
          <a:p>
            <a:pPr marL="256032" indent="-256032">
              <a:spcAft>
                <a:spcPts val="1000"/>
              </a:spcAft>
              <a:buClr>
                <a:srgbClr val="C62828"/>
              </a:buClr>
              <a:buChar char="•"/>
            </a:pPr>
            <a:r>
              <a:rPr sz="1700">
                <a:solidFill>
                  <a:srgbClr val="1F2933"/>
                </a:solidFill>
                <a:latin typeface="Calibri"/>
              </a:rPr>
              <a:t>Tracks or cancels requests</a:t>
            </a:r>
          </a:p>
          <a:p>
            <a:pPr marL="256032" indent="-256032">
              <a:spcAft>
                <a:spcPts val="1000"/>
              </a:spcAft>
              <a:buClr>
                <a:srgbClr val="C62828"/>
              </a:buClr>
              <a:buChar char="•"/>
            </a:pPr>
            <a:r>
              <a:rPr sz="1700">
                <a:solidFill>
                  <a:srgbClr val="1F2933"/>
                </a:solidFill>
                <a:latin typeface="Calibri"/>
              </a:rPr>
              <a:t>Searches donors by group and city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EXISTING SYSTEMS</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We studied national and hospital portals and kept their best ideas</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4</a:t>
            </a:r>
          </a:p>
        </p:txBody>
      </p:sp>
      <p:graphicFrame>
        <p:nvGraphicFramePr>
          <p:cNvPr id="6" name="Table 5"/>
          <p:cNvGraphicFramePr>
            <a:graphicFrameLocks noGrp="1"/>
          </p:cNvGraphicFramePr>
          <p:nvPr/>
        </p:nvGraphicFramePr>
        <p:xfrm>
          <a:off x="640080" y="1828800"/>
          <a:ext cx="10911535" cy="3566160"/>
        </p:xfrm>
        <a:graphic>
          <a:graphicData uri="http://schemas.openxmlformats.org/drawingml/2006/table">
            <a:tbl>
              <a:tblPr firstRow="1" bandRow="1">
                <a:tableStyleId>{5C22544A-7EE6-4342-B048-85BDC9FD1C3A}</a:tableStyleId>
              </a:tblPr>
              <a:tblGrid>
                <a:gridCol w="2651760"/>
                <a:gridCol w="2926080"/>
                <a:gridCol w="2651760"/>
                <a:gridCol w="2681935"/>
              </a:tblGrid>
              <a:tr h="594360">
                <a:tc>
                  <a:txBody>
                    <a:bodyPr/>
                    <a:lstStyle/>
                    <a:p>
                      <a:r>
                        <a:rPr sz="1400" b="1">
                          <a:solidFill>
                            <a:srgbClr val="FFFFFF"/>
                          </a:solidFill>
                          <a:latin typeface="Calibri"/>
                        </a:rPr>
                        <a:t>Feature</a:t>
                      </a:r>
                    </a:p>
                  </a:txBody>
                  <a:tcPr anchor="ctr">
                    <a:solidFill>
                      <a:srgbClr val="C62828"/>
                    </a:solidFill>
                  </a:tcPr>
                </a:tc>
                <a:tc>
                  <a:txBody>
                    <a:bodyPr/>
                    <a:lstStyle/>
                    <a:p>
                      <a:r>
                        <a:rPr sz="1400" b="1">
                          <a:solidFill>
                            <a:srgbClr val="FFFFFF"/>
                          </a:solidFill>
                          <a:latin typeface="Calibri"/>
                        </a:rPr>
                        <a:t>eRaktKosh (national portal)</a:t>
                      </a:r>
                    </a:p>
                  </a:txBody>
                  <a:tcPr anchor="ctr">
                    <a:solidFill>
                      <a:srgbClr val="C62828"/>
                    </a:solidFill>
                  </a:tcPr>
                </a:tc>
                <a:tc>
                  <a:txBody>
                    <a:bodyPr/>
                    <a:lstStyle/>
                    <a:p>
                      <a:r>
                        <a:rPr sz="1400" b="1">
                          <a:solidFill>
                            <a:srgbClr val="FFFFFF"/>
                          </a:solidFill>
                          <a:latin typeface="Calibri"/>
                        </a:rPr>
                        <a:t>Max Healthcare pages</a:t>
                      </a:r>
                    </a:p>
                  </a:txBody>
                  <a:tcPr anchor="ctr">
                    <a:solidFill>
                      <a:srgbClr val="C62828"/>
                    </a:solidFill>
                  </a:tcPr>
                </a:tc>
                <a:tc>
                  <a:txBody>
                    <a:bodyPr/>
                    <a:lstStyle/>
                    <a:p>
                      <a:r>
                        <a:rPr sz="1400" b="1">
                          <a:solidFill>
                            <a:srgbClr val="FFFFFF"/>
                          </a:solidFill>
                          <a:latin typeface="Calibri"/>
                        </a:rPr>
                        <a:t>LifeDrop</a:t>
                      </a:r>
                    </a:p>
                  </a:txBody>
                  <a:tcPr anchor="ctr">
                    <a:solidFill>
                      <a:srgbClr val="C62828"/>
                    </a:solidFill>
                  </a:tcPr>
                </a:tc>
              </a:tr>
              <a:tr h="594360">
                <a:tc>
                  <a:txBody>
                    <a:bodyPr/>
                    <a:lstStyle/>
                    <a:p>
                      <a:r>
                        <a:rPr sz="1400" b="1">
                          <a:solidFill>
                            <a:srgbClr val="1F2933"/>
                          </a:solidFill>
                          <a:latin typeface="Calibri"/>
                        </a:rPr>
                        <a:t>Availability without login</a:t>
                      </a:r>
                    </a:p>
                  </a:txBody>
                  <a:tcPr anchor="ctr">
                    <a:solidFill>
                      <a:srgbClr val="FFFFFF"/>
                    </a:solidFill>
                  </a:tcPr>
                </a:tc>
                <a:tc>
                  <a:txBody>
                    <a:bodyPr/>
                    <a:lstStyle/>
                    <a:p>
                      <a:r>
                        <a:rPr sz="1400" b="0">
                          <a:solidFill>
                            <a:srgbClr val="1F2933"/>
                          </a:solidFill>
                          <a:latin typeface="Calibri"/>
                        </a:rPr>
                        <a:t>Yes, search by state, district, group</a:t>
                      </a:r>
                    </a:p>
                  </a:txBody>
                  <a:tcPr anchor="ctr">
                    <a:solidFill>
                      <a:srgbClr val="FFFFFF"/>
                    </a:solidFill>
                  </a:tcPr>
                </a:tc>
                <a:tc>
                  <a:txBody>
                    <a:bodyPr/>
                    <a:lstStyle/>
                    <a:p>
                      <a:r>
                        <a:rPr sz="1400" b="0">
                          <a:solidFill>
                            <a:srgbClr val="1F2933"/>
                          </a:solidFill>
                          <a:latin typeface="Calibri"/>
                        </a:rPr>
                        <a:t>Information pages only</a:t>
                      </a:r>
                    </a:p>
                  </a:txBody>
                  <a:tcPr anchor="ctr">
                    <a:solidFill>
                      <a:srgbClr val="FFFFFF"/>
                    </a:solidFill>
                  </a:tcPr>
                </a:tc>
                <a:tc>
                  <a:txBody>
                    <a:bodyPr/>
                    <a:lstStyle/>
                    <a:p>
                      <a:r>
                        <a:rPr sz="1400" b="0">
                          <a:solidFill>
                            <a:srgbClr val="1F2933"/>
                          </a:solidFill>
                          <a:latin typeface="Calibri"/>
                        </a:rPr>
                        <a:t>Yes, live tiles on home page</a:t>
                      </a:r>
                    </a:p>
                  </a:txBody>
                  <a:tcPr anchor="ctr">
                    <a:solidFill>
                      <a:srgbClr val="FFFFFF"/>
                    </a:solidFill>
                  </a:tcPr>
                </a:tc>
              </a:tr>
              <a:tr h="594360">
                <a:tc>
                  <a:txBody>
                    <a:bodyPr/>
                    <a:lstStyle/>
                    <a:p>
                      <a:r>
                        <a:rPr sz="1400" b="1">
                          <a:solidFill>
                            <a:srgbClr val="1F2933"/>
                          </a:solidFill>
                          <a:latin typeface="Calibri"/>
                        </a:rPr>
                        <a:t>Donation camps</a:t>
                      </a:r>
                    </a:p>
                  </a:txBody>
                  <a:tcPr anchor="ctr">
                    <a:solidFill>
                      <a:srgbClr val="FBF1F1"/>
                    </a:solidFill>
                  </a:tcPr>
                </a:tc>
                <a:tc>
                  <a:txBody>
                    <a:bodyPr/>
                    <a:lstStyle/>
                    <a:p>
                      <a:r>
                        <a:rPr sz="1400" b="0">
                          <a:solidFill>
                            <a:srgbClr val="1F2933"/>
                          </a:solidFill>
                          <a:latin typeface="Calibri"/>
                        </a:rPr>
                        <a:t>Yes, camp schedule</a:t>
                      </a:r>
                    </a:p>
                  </a:txBody>
                  <a:tcPr anchor="ctr">
                    <a:solidFill>
                      <a:srgbClr val="FBF1F1"/>
                    </a:solidFill>
                  </a:tcPr>
                </a:tc>
                <a:tc>
                  <a:txBody>
                    <a:bodyPr/>
                    <a:lstStyle/>
                    <a:p>
                      <a:r>
                        <a:rPr sz="1400" b="0">
                          <a:solidFill>
                            <a:srgbClr val="1F2933"/>
                          </a:solidFill>
                          <a:latin typeface="Calibri"/>
                        </a:rPr>
                        <a:t>Donation guidance</a:t>
                      </a:r>
                    </a:p>
                  </a:txBody>
                  <a:tcPr anchor="ctr">
                    <a:solidFill>
                      <a:srgbClr val="FBF1F1"/>
                    </a:solidFill>
                  </a:tcPr>
                </a:tc>
                <a:tc>
                  <a:txBody>
                    <a:bodyPr/>
                    <a:lstStyle/>
                    <a:p>
                      <a:r>
                        <a:rPr sz="1400" b="0">
                          <a:solidFill>
                            <a:srgbClr val="1F2933"/>
                          </a:solidFill>
                          <a:latin typeface="Calibri"/>
                        </a:rPr>
                        <a:t>Yes, list and online booking</a:t>
                      </a:r>
                    </a:p>
                  </a:txBody>
                  <a:tcPr anchor="ctr">
                    <a:solidFill>
                      <a:srgbClr val="FBF1F1"/>
                    </a:solidFill>
                  </a:tcPr>
                </a:tc>
              </a:tr>
              <a:tr h="594360">
                <a:tc>
                  <a:txBody>
                    <a:bodyPr/>
                    <a:lstStyle/>
                    <a:p>
                      <a:r>
                        <a:rPr sz="1400" b="1">
                          <a:solidFill>
                            <a:srgbClr val="1F2933"/>
                          </a:solidFill>
                          <a:latin typeface="Calibri"/>
                        </a:rPr>
                        <a:t>Donor registration</a:t>
                      </a:r>
                    </a:p>
                  </a:txBody>
                  <a:tcPr anchor="ctr">
                    <a:solidFill>
                      <a:srgbClr val="FFFFFF"/>
                    </a:solidFill>
                  </a:tcPr>
                </a:tc>
                <a:tc>
                  <a:txBody>
                    <a:bodyPr/>
                    <a:lstStyle/>
                    <a:p>
                      <a:r>
                        <a:rPr sz="1400" b="0">
                          <a:solidFill>
                            <a:srgbClr val="1F2933"/>
                          </a:solidFill>
                          <a:latin typeface="Calibri"/>
                        </a:rPr>
                        <a:t>Yes</a:t>
                      </a:r>
                    </a:p>
                  </a:txBody>
                  <a:tcPr anchor="ctr">
                    <a:solidFill>
                      <a:srgbClr val="FFFFFF"/>
                    </a:solidFill>
                  </a:tcPr>
                </a:tc>
                <a:tc>
                  <a:txBody>
                    <a:bodyPr/>
                    <a:lstStyle/>
                    <a:p>
                      <a:r>
                        <a:rPr sz="1400" b="0">
                          <a:solidFill>
                            <a:srgbClr val="1F2933"/>
                          </a:solidFill>
                          <a:latin typeface="Calibri"/>
                        </a:rPr>
                        <a:t>Not found</a:t>
                      </a:r>
                    </a:p>
                  </a:txBody>
                  <a:tcPr anchor="ctr">
                    <a:solidFill>
                      <a:srgbClr val="FFFFFF"/>
                    </a:solidFill>
                  </a:tcPr>
                </a:tc>
                <a:tc>
                  <a:txBody>
                    <a:bodyPr/>
                    <a:lstStyle/>
                    <a:p>
                      <a:r>
                        <a:rPr sz="1400" b="0">
                          <a:solidFill>
                            <a:srgbClr val="1F2933"/>
                          </a:solidFill>
                          <a:latin typeface="Calibri"/>
                        </a:rPr>
                        <a:t>Yes, with eligibility check</a:t>
                      </a:r>
                    </a:p>
                  </a:txBody>
                  <a:tcPr anchor="ctr">
                    <a:solidFill>
                      <a:srgbClr val="FFFFFF"/>
                    </a:solidFill>
                  </a:tcPr>
                </a:tc>
              </a:tr>
              <a:tr h="594360">
                <a:tc>
                  <a:txBody>
                    <a:bodyPr/>
                    <a:lstStyle/>
                    <a:p>
                      <a:r>
                        <a:rPr sz="1400" b="1">
                          <a:solidFill>
                            <a:srgbClr val="1F2933"/>
                          </a:solidFill>
                          <a:latin typeface="Calibri"/>
                        </a:rPr>
                        <a:t>Eligibility guidance</a:t>
                      </a:r>
                    </a:p>
                  </a:txBody>
                  <a:tcPr anchor="ctr">
                    <a:solidFill>
                      <a:srgbClr val="FBF1F1"/>
                    </a:solidFill>
                  </a:tcPr>
                </a:tc>
                <a:tc>
                  <a:txBody>
                    <a:bodyPr/>
                    <a:lstStyle/>
                    <a:p>
                      <a:r>
                        <a:rPr sz="1400" b="0">
                          <a:solidFill>
                            <a:srgbClr val="1F2933"/>
                          </a:solidFill>
                          <a:latin typeface="Calibri"/>
                        </a:rPr>
                        <a:t>About blood donation page</a:t>
                      </a:r>
                    </a:p>
                  </a:txBody>
                  <a:tcPr anchor="ctr">
                    <a:solidFill>
                      <a:srgbClr val="FBF1F1"/>
                    </a:solidFill>
                  </a:tcPr>
                </a:tc>
                <a:tc>
                  <a:txBody>
                    <a:bodyPr/>
                    <a:lstStyle/>
                    <a:p>
                      <a:r>
                        <a:rPr sz="1400" b="0">
                          <a:solidFill>
                            <a:srgbClr val="1F2933"/>
                          </a:solidFill>
                          <a:latin typeface="Calibri"/>
                        </a:rPr>
                        <a:t>Age, Hb 12.5, 3 / 4 month gap</a:t>
                      </a:r>
                    </a:p>
                  </a:txBody>
                  <a:tcPr anchor="ctr">
                    <a:solidFill>
                      <a:srgbClr val="FBF1F1"/>
                    </a:solidFill>
                  </a:tcPr>
                </a:tc>
                <a:tc>
                  <a:txBody>
                    <a:bodyPr/>
                    <a:lstStyle/>
                    <a:p>
                      <a:r>
                        <a:rPr sz="1400" b="0">
                          <a:solidFill>
                            <a:srgbClr val="1F2933"/>
                          </a:solidFill>
                          <a:latin typeface="Calibri"/>
                        </a:rPr>
                        <a:t>Applied automatically</a:t>
                      </a:r>
                    </a:p>
                  </a:txBody>
                  <a:tcPr anchor="ctr">
                    <a:solidFill>
                      <a:srgbClr val="FBF1F1"/>
                    </a:solidFill>
                  </a:tcPr>
                </a:tc>
              </a:tr>
              <a:tr h="594360">
                <a:tc>
                  <a:txBody>
                    <a:bodyPr/>
                    <a:lstStyle/>
                    <a:p>
                      <a:r>
                        <a:rPr sz="1400" b="1">
                          <a:solidFill>
                            <a:srgbClr val="1F2933"/>
                          </a:solidFill>
                          <a:latin typeface="Calibri"/>
                        </a:rPr>
                        <a:t>Hospital requests</a:t>
                      </a:r>
                    </a:p>
                  </a:txBody>
                  <a:tcPr anchor="ctr">
                    <a:solidFill>
                      <a:srgbClr val="FFFFFF"/>
                    </a:solidFill>
                  </a:tcPr>
                </a:tc>
                <a:tc>
                  <a:txBody>
                    <a:bodyPr/>
                    <a:lstStyle/>
                    <a:p>
                      <a:r>
                        <a:rPr sz="1400" b="0">
                          <a:solidFill>
                            <a:srgbClr val="1F2933"/>
                          </a:solidFill>
                          <a:latin typeface="Calibri"/>
                        </a:rPr>
                        <a:t>Thalassemia request and services</a:t>
                      </a:r>
                    </a:p>
                  </a:txBody>
                  <a:tcPr anchor="ctr">
                    <a:solidFill>
                      <a:srgbClr val="FFFFFF"/>
                    </a:solidFill>
                  </a:tcPr>
                </a:tc>
                <a:tc>
                  <a:txBody>
                    <a:bodyPr/>
                    <a:lstStyle/>
                    <a:p>
                      <a:r>
                        <a:rPr sz="1400" b="0">
                          <a:solidFill>
                            <a:srgbClr val="1F2933"/>
                          </a:solidFill>
                          <a:latin typeface="Calibri"/>
                        </a:rPr>
                        <a:t>Not applicable</a:t>
                      </a:r>
                    </a:p>
                  </a:txBody>
                  <a:tcPr anchor="ctr">
                    <a:solidFill>
                      <a:srgbClr val="FFFFFF"/>
                    </a:solidFill>
                  </a:tcPr>
                </a:tc>
                <a:tc>
                  <a:txBody>
                    <a:bodyPr/>
                    <a:lstStyle/>
                    <a:p>
                      <a:r>
                        <a:rPr sz="1400" b="0">
                          <a:solidFill>
                            <a:srgbClr val="1F2933"/>
                          </a:solidFill>
                          <a:latin typeface="Calibri"/>
                        </a:rPr>
                        <a:t>Yes, urgency and approval</a:t>
                      </a:r>
                    </a:p>
                  </a:txBody>
                  <a:tcPr anchor="ctr">
                    <a:solidFill>
                      <a:srgbClr val="FFFFFF"/>
                    </a:solidFill>
                  </a:tcPr>
                </a:tc>
              </a:tr>
            </a:tbl>
          </a:graphicData>
        </a:graphic>
      </p:graphicFrame>
      <p:sp>
        <p:nvSpPr>
          <p:cNvPr id="7" name="TextBox 6"/>
          <p:cNvSpPr txBox="1"/>
          <p:nvPr/>
        </p:nvSpPr>
        <p:spPr>
          <a:xfrm>
            <a:off x="640080" y="5669280"/>
            <a:ext cx="10911535" cy="548640"/>
          </a:xfrm>
          <a:prstGeom prst="rect">
            <a:avLst/>
          </a:prstGeom>
          <a:noFill/>
        </p:spPr>
        <p:txBody>
          <a:bodyPr wrap="square" lIns="0" rIns="0" tIns="0" bIns="0" anchor="t">
            <a:spAutoFit/>
          </a:bodyPr>
          <a:lstStyle/>
          <a:p>
            <a:pPr algn="l"/>
            <a:r>
              <a:rPr sz="1300" b="0" i="1">
                <a:solidFill>
                  <a:srgbClr val="5F6B78"/>
                </a:solidFill>
                <a:latin typeface="Calibri"/>
              </a:rPr>
              <a:t>Based on the public pages and search results we reviewed. The real systems offer more than we list; this shows which ideas we adopted.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FUNCTIONALITIES</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Twenty functions cover the full blood bank cycle</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5</a:t>
            </a:r>
          </a:p>
        </p:txBody>
      </p:sp>
      <p:sp>
        <p:nvSpPr>
          <p:cNvPr id="6" name="Rectangle 5"/>
          <p:cNvSpPr/>
          <p:nvPr/>
        </p:nvSpPr>
        <p:spPr>
          <a:xfrm>
            <a:off x="640080" y="1828800"/>
            <a:ext cx="2522143" cy="17830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057400"/>
            <a:ext cx="2064943" cy="731520"/>
          </a:xfrm>
          <a:prstGeom prst="rect">
            <a:avLst/>
          </a:prstGeom>
          <a:noFill/>
        </p:spPr>
        <p:txBody>
          <a:bodyPr wrap="square" lIns="0" rIns="0" tIns="0" bIns="0" anchor="t">
            <a:spAutoFit/>
          </a:bodyPr>
          <a:lstStyle/>
          <a:p>
            <a:pPr algn="l"/>
            <a:r>
              <a:rPr sz="1800" b="1" i="0">
                <a:solidFill>
                  <a:srgbClr val="C62828"/>
                </a:solidFill>
                <a:latin typeface="Calibri"/>
              </a:rPr>
              <a:t>Eligibility check</a:t>
            </a:r>
          </a:p>
        </p:txBody>
      </p:sp>
      <p:sp>
        <p:nvSpPr>
          <p:cNvPr id="8" name="TextBox 7"/>
          <p:cNvSpPr txBox="1"/>
          <p:nvPr/>
        </p:nvSpPr>
        <p:spPr>
          <a:xfrm>
            <a:off x="868680" y="2697480"/>
            <a:ext cx="2064943" cy="914400"/>
          </a:xfrm>
          <a:prstGeom prst="rect">
            <a:avLst/>
          </a:prstGeom>
          <a:noFill/>
        </p:spPr>
        <p:txBody>
          <a:bodyPr wrap="square" lIns="0" rIns="0" tIns="0" bIns="0" anchor="t">
            <a:spAutoFit/>
          </a:bodyPr>
          <a:lstStyle/>
          <a:p>
            <a:pPr algn="l"/>
            <a:r>
              <a:rPr sz="1400" b="0" i="0">
                <a:solidFill>
                  <a:srgbClr val="5F6B78"/>
                </a:solidFill>
                <a:latin typeface="Calibri"/>
              </a:rPr>
              <a:t>Age, weight, haemoglobin and months since last donation</a:t>
            </a:r>
          </a:p>
        </p:txBody>
      </p:sp>
      <p:sp>
        <p:nvSpPr>
          <p:cNvPr id="9" name="Rectangle 8"/>
          <p:cNvSpPr/>
          <p:nvPr/>
        </p:nvSpPr>
        <p:spPr>
          <a:xfrm>
            <a:off x="3436543" y="1828800"/>
            <a:ext cx="2522143" cy="17830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65143" y="2057400"/>
            <a:ext cx="2064943" cy="731520"/>
          </a:xfrm>
          <a:prstGeom prst="rect">
            <a:avLst/>
          </a:prstGeom>
          <a:noFill/>
        </p:spPr>
        <p:txBody>
          <a:bodyPr wrap="square" lIns="0" rIns="0" tIns="0" bIns="0" anchor="t">
            <a:spAutoFit/>
          </a:bodyPr>
          <a:lstStyle/>
          <a:p>
            <a:pPr algn="l"/>
            <a:r>
              <a:rPr sz="1800" b="1" i="0">
                <a:solidFill>
                  <a:srgbClr val="C62828"/>
                </a:solidFill>
                <a:latin typeface="Calibri"/>
              </a:rPr>
              <a:t>Live stock and alerts</a:t>
            </a:r>
          </a:p>
        </p:txBody>
      </p:sp>
      <p:sp>
        <p:nvSpPr>
          <p:cNvPr id="11" name="TextBox 10"/>
          <p:cNvSpPr txBox="1"/>
          <p:nvPr/>
        </p:nvSpPr>
        <p:spPr>
          <a:xfrm>
            <a:off x="3665143" y="2697480"/>
            <a:ext cx="2064943" cy="914400"/>
          </a:xfrm>
          <a:prstGeom prst="rect">
            <a:avLst/>
          </a:prstGeom>
          <a:noFill/>
        </p:spPr>
        <p:txBody>
          <a:bodyPr wrap="square" lIns="0" rIns="0" tIns="0" bIns="0" anchor="t">
            <a:spAutoFit/>
          </a:bodyPr>
          <a:lstStyle/>
          <a:p>
            <a:pPr algn="l"/>
            <a:r>
              <a:rPr sz="1400" b="0" i="0">
                <a:solidFill>
                  <a:srgbClr val="5F6B78"/>
                </a:solidFill>
                <a:latin typeface="Calibri"/>
              </a:rPr>
              <a:t>Unit level records, 42 day expiry, low stock warnings</a:t>
            </a:r>
          </a:p>
        </p:txBody>
      </p:sp>
      <p:sp>
        <p:nvSpPr>
          <p:cNvPr id="12" name="Rectangle 11"/>
          <p:cNvSpPr/>
          <p:nvPr/>
        </p:nvSpPr>
        <p:spPr>
          <a:xfrm>
            <a:off x="6233007" y="1828800"/>
            <a:ext cx="2522143" cy="17830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61607" y="2057400"/>
            <a:ext cx="2064943" cy="731520"/>
          </a:xfrm>
          <a:prstGeom prst="rect">
            <a:avLst/>
          </a:prstGeom>
          <a:noFill/>
        </p:spPr>
        <p:txBody>
          <a:bodyPr wrap="square" lIns="0" rIns="0" tIns="0" bIns="0" anchor="t">
            <a:spAutoFit/>
          </a:bodyPr>
          <a:lstStyle/>
          <a:p>
            <a:pPr algn="l"/>
            <a:r>
              <a:rPr sz="1800" b="1" i="0">
                <a:solidFill>
                  <a:srgbClr val="C62828"/>
                </a:solidFill>
                <a:latin typeface="Calibri"/>
              </a:rPr>
              <a:t>Blood requests</a:t>
            </a:r>
          </a:p>
        </p:txBody>
      </p:sp>
      <p:sp>
        <p:nvSpPr>
          <p:cNvPr id="14" name="TextBox 13"/>
          <p:cNvSpPr txBox="1"/>
          <p:nvPr/>
        </p:nvSpPr>
        <p:spPr>
          <a:xfrm>
            <a:off x="6461607" y="2697480"/>
            <a:ext cx="2064943" cy="914400"/>
          </a:xfrm>
          <a:prstGeom prst="rect">
            <a:avLst/>
          </a:prstGeom>
          <a:noFill/>
        </p:spPr>
        <p:txBody>
          <a:bodyPr wrap="square" lIns="0" rIns="0" tIns="0" bIns="0" anchor="t">
            <a:spAutoFit/>
          </a:bodyPr>
          <a:lstStyle/>
          <a:p>
            <a:pPr algn="l"/>
            <a:r>
              <a:rPr sz="1400" b="0" i="0">
                <a:solidFill>
                  <a:srgbClr val="5F6B78"/>
                </a:solidFill>
                <a:latin typeface="Calibri"/>
              </a:rPr>
              <a:t>Normal, urgent or critical, tracked end to end</a:t>
            </a:r>
          </a:p>
        </p:txBody>
      </p:sp>
      <p:sp>
        <p:nvSpPr>
          <p:cNvPr id="15" name="Rectangle 14"/>
          <p:cNvSpPr/>
          <p:nvPr/>
        </p:nvSpPr>
        <p:spPr>
          <a:xfrm>
            <a:off x="9029471" y="1828800"/>
            <a:ext cx="2522143" cy="17830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58071" y="2057400"/>
            <a:ext cx="2064943" cy="731520"/>
          </a:xfrm>
          <a:prstGeom prst="rect">
            <a:avLst/>
          </a:prstGeom>
          <a:noFill/>
        </p:spPr>
        <p:txBody>
          <a:bodyPr wrap="square" lIns="0" rIns="0" tIns="0" bIns="0" anchor="t">
            <a:spAutoFit/>
          </a:bodyPr>
          <a:lstStyle/>
          <a:p>
            <a:pPr algn="l"/>
            <a:r>
              <a:rPr sz="1800" b="1" i="0">
                <a:solidFill>
                  <a:srgbClr val="C62828"/>
                </a:solidFill>
                <a:latin typeface="Calibri"/>
              </a:rPr>
              <a:t>Oldest first issue</a:t>
            </a:r>
          </a:p>
        </p:txBody>
      </p:sp>
      <p:sp>
        <p:nvSpPr>
          <p:cNvPr id="17" name="TextBox 16"/>
          <p:cNvSpPr txBox="1"/>
          <p:nvPr/>
        </p:nvSpPr>
        <p:spPr>
          <a:xfrm>
            <a:off x="9258071" y="2697480"/>
            <a:ext cx="2064943" cy="914400"/>
          </a:xfrm>
          <a:prstGeom prst="rect">
            <a:avLst/>
          </a:prstGeom>
          <a:noFill/>
        </p:spPr>
        <p:txBody>
          <a:bodyPr wrap="square" lIns="0" rIns="0" tIns="0" bIns="0" anchor="t">
            <a:spAutoFit/>
          </a:bodyPr>
          <a:lstStyle/>
          <a:p>
            <a:pPr algn="l"/>
            <a:r>
              <a:rPr sz="1400" b="0" i="0">
                <a:solidFill>
                  <a:srgbClr val="5F6B78"/>
                </a:solidFill>
                <a:latin typeface="Calibri"/>
              </a:rPr>
              <a:t>FIFO, plus optional compatible groups when stock is short</a:t>
            </a:r>
          </a:p>
        </p:txBody>
      </p:sp>
      <p:sp>
        <p:nvSpPr>
          <p:cNvPr id="18" name="Rectangle 17"/>
          <p:cNvSpPr/>
          <p:nvPr/>
        </p:nvSpPr>
        <p:spPr>
          <a:xfrm>
            <a:off x="640080" y="3794760"/>
            <a:ext cx="2522143" cy="17830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68680" y="4023360"/>
            <a:ext cx="2064943" cy="731520"/>
          </a:xfrm>
          <a:prstGeom prst="rect">
            <a:avLst/>
          </a:prstGeom>
          <a:noFill/>
        </p:spPr>
        <p:txBody>
          <a:bodyPr wrap="square" lIns="0" rIns="0" tIns="0" bIns="0" anchor="t">
            <a:spAutoFit/>
          </a:bodyPr>
          <a:lstStyle/>
          <a:p>
            <a:pPr algn="l"/>
            <a:r>
              <a:rPr sz="1800" b="1" i="0">
                <a:solidFill>
                  <a:srgbClr val="C62828"/>
                </a:solidFill>
                <a:latin typeface="Calibri"/>
              </a:rPr>
              <a:t>Donation camps</a:t>
            </a:r>
          </a:p>
        </p:txBody>
      </p:sp>
      <p:sp>
        <p:nvSpPr>
          <p:cNvPr id="20" name="TextBox 19"/>
          <p:cNvSpPr txBox="1"/>
          <p:nvPr/>
        </p:nvSpPr>
        <p:spPr>
          <a:xfrm>
            <a:off x="868680" y="4663440"/>
            <a:ext cx="2064943" cy="914400"/>
          </a:xfrm>
          <a:prstGeom prst="rect">
            <a:avLst/>
          </a:prstGeom>
          <a:noFill/>
        </p:spPr>
        <p:txBody>
          <a:bodyPr wrap="square" lIns="0" rIns="0" tIns="0" bIns="0" anchor="t">
            <a:spAutoFit/>
          </a:bodyPr>
          <a:lstStyle/>
          <a:p>
            <a:pPr algn="l"/>
            <a:r>
              <a:rPr sz="1400" b="0" i="0">
                <a:solidFill>
                  <a:srgbClr val="5F6B78"/>
                </a:solidFill>
                <a:latin typeface="Calibri"/>
              </a:rPr>
              <a:t>Online booking, capacity limit, stock rises on donation</a:t>
            </a:r>
          </a:p>
        </p:txBody>
      </p:sp>
      <p:sp>
        <p:nvSpPr>
          <p:cNvPr id="21" name="Rectangle 20"/>
          <p:cNvSpPr/>
          <p:nvPr/>
        </p:nvSpPr>
        <p:spPr>
          <a:xfrm>
            <a:off x="3436543" y="3794760"/>
            <a:ext cx="2522143" cy="17830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665143" y="4023360"/>
            <a:ext cx="2064943" cy="731520"/>
          </a:xfrm>
          <a:prstGeom prst="rect">
            <a:avLst/>
          </a:prstGeom>
          <a:noFill/>
        </p:spPr>
        <p:txBody>
          <a:bodyPr wrap="square" lIns="0" rIns="0" tIns="0" bIns="0" anchor="t">
            <a:spAutoFit/>
          </a:bodyPr>
          <a:lstStyle/>
          <a:p>
            <a:pPr algn="l"/>
            <a:r>
              <a:rPr sz="1800" b="1" i="0">
                <a:solidFill>
                  <a:srgbClr val="C62828"/>
                </a:solidFill>
                <a:latin typeface="Calibri"/>
              </a:rPr>
              <a:t>Public home page</a:t>
            </a:r>
          </a:p>
        </p:txBody>
      </p:sp>
      <p:sp>
        <p:nvSpPr>
          <p:cNvPr id="23" name="TextBox 22"/>
          <p:cNvSpPr txBox="1"/>
          <p:nvPr/>
        </p:nvSpPr>
        <p:spPr>
          <a:xfrm>
            <a:off x="3665143" y="4663440"/>
            <a:ext cx="2064943" cy="914400"/>
          </a:xfrm>
          <a:prstGeom prst="rect">
            <a:avLst/>
          </a:prstGeom>
          <a:noFill/>
        </p:spPr>
        <p:txBody>
          <a:bodyPr wrap="square" lIns="0" rIns="0" tIns="0" bIns="0" anchor="t">
            <a:spAutoFit/>
          </a:bodyPr>
          <a:lstStyle/>
          <a:p>
            <a:pPr algn="l"/>
            <a:r>
              <a:rPr sz="1400" b="0" i="0">
                <a:solidFill>
                  <a:srgbClr val="5F6B78"/>
                </a:solidFill>
                <a:latin typeface="Calibri"/>
              </a:rPr>
              <a:t>Live availability, camps and counters without login</a:t>
            </a:r>
          </a:p>
        </p:txBody>
      </p:sp>
      <p:sp>
        <p:nvSpPr>
          <p:cNvPr id="24" name="Rectangle 23"/>
          <p:cNvSpPr/>
          <p:nvPr/>
        </p:nvSpPr>
        <p:spPr>
          <a:xfrm>
            <a:off x="6233007" y="3794760"/>
            <a:ext cx="2522143" cy="17830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61607" y="4023360"/>
            <a:ext cx="2064943" cy="731520"/>
          </a:xfrm>
          <a:prstGeom prst="rect">
            <a:avLst/>
          </a:prstGeom>
          <a:noFill/>
        </p:spPr>
        <p:txBody>
          <a:bodyPr wrap="square" lIns="0" rIns="0" tIns="0" bIns="0" anchor="t">
            <a:spAutoFit/>
          </a:bodyPr>
          <a:lstStyle/>
          <a:p>
            <a:pPr algn="l"/>
            <a:r>
              <a:rPr sz="1800" b="1" i="0">
                <a:solidFill>
                  <a:srgbClr val="C62828"/>
                </a:solidFill>
                <a:latin typeface="Calibri"/>
              </a:rPr>
              <a:t>Rolling live ticker</a:t>
            </a:r>
          </a:p>
        </p:txBody>
      </p:sp>
      <p:sp>
        <p:nvSpPr>
          <p:cNvPr id="26" name="TextBox 25"/>
          <p:cNvSpPr txBox="1"/>
          <p:nvPr/>
        </p:nvSpPr>
        <p:spPr>
          <a:xfrm>
            <a:off x="6461607" y="4663440"/>
            <a:ext cx="2064943" cy="914400"/>
          </a:xfrm>
          <a:prstGeom prst="rect">
            <a:avLst/>
          </a:prstGeom>
          <a:noFill/>
        </p:spPr>
        <p:txBody>
          <a:bodyPr wrap="square" lIns="0" rIns="0" tIns="0" bIns="0" anchor="t">
            <a:spAutoFit/>
          </a:bodyPr>
          <a:lstStyle/>
          <a:p>
            <a:pPr algn="l"/>
            <a:r>
              <a:rPr sz="1400" b="0" i="0">
                <a:solidFill>
                  <a:srgbClr val="5F6B78"/>
                </a:solidFill>
                <a:latin typeface="Calibri"/>
              </a:rPr>
              <a:t>Urgent requests, low stock and camps from the database</a:t>
            </a:r>
          </a:p>
        </p:txBody>
      </p:sp>
      <p:sp>
        <p:nvSpPr>
          <p:cNvPr id="27" name="Rectangle 26"/>
          <p:cNvSpPr/>
          <p:nvPr/>
        </p:nvSpPr>
        <p:spPr>
          <a:xfrm>
            <a:off x="9029471" y="3794760"/>
            <a:ext cx="2522143" cy="17830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58071" y="4023360"/>
            <a:ext cx="2064943" cy="731520"/>
          </a:xfrm>
          <a:prstGeom prst="rect">
            <a:avLst/>
          </a:prstGeom>
          <a:noFill/>
        </p:spPr>
        <p:txBody>
          <a:bodyPr wrap="square" lIns="0" rIns="0" tIns="0" bIns="0" anchor="t">
            <a:spAutoFit/>
          </a:bodyPr>
          <a:lstStyle/>
          <a:p>
            <a:pPr algn="l"/>
            <a:r>
              <a:rPr sz="1800" b="1" i="0">
                <a:solidFill>
                  <a:srgbClr val="C62828"/>
                </a:solidFill>
                <a:latin typeface="Calibri"/>
              </a:rPr>
              <a:t>Demo mode</a:t>
            </a:r>
          </a:p>
        </p:txBody>
      </p:sp>
      <p:sp>
        <p:nvSpPr>
          <p:cNvPr id="29" name="TextBox 28"/>
          <p:cNvSpPr txBox="1"/>
          <p:nvPr/>
        </p:nvSpPr>
        <p:spPr>
          <a:xfrm>
            <a:off x="9258071" y="4663440"/>
            <a:ext cx="2064943" cy="914400"/>
          </a:xfrm>
          <a:prstGeom prst="rect">
            <a:avLst/>
          </a:prstGeom>
          <a:noFill/>
        </p:spPr>
        <p:txBody>
          <a:bodyPr wrap="square" lIns="0" rIns="0" tIns="0" bIns="0" anchor="t">
            <a:spAutoFit/>
          </a:bodyPr>
          <a:lstStyle/>
          <a:p>
            <a:pPr algn="l"/>
            <a:r>
              <a:rPr sz="1400" b="0" i="0">
                <a:solidFill>
                  <a:srgbClr val="5F6B78"/>
                </a:solidFill>
                <a:latin typeface="Calibri"/>
              </a:rPr>
              <a:t>Step guide, one click role switch, reset sample data</a:t>
            </a:r>
          </a:p>
        </p:txBody>
      </p:sp>
      <p:sp>
        <p:nvSpPr>
          <p:cNvPr id="30" name="TextBox 29"/>
          <p:cNvSpPr txBox="1"/>
          <p:nvPr/>
        </p:nvSpPr>
        <p:spPr>
          <a:xfrm>
            <a:off x="640080" y="5852160"/>
            <a:ext cx="10911535" cy="274320"/>
          </a:xfrm>
          <a:prstGeom prst="rect">
            <a:avLst/>
          </a:prstGeom>
          <a:noFill/>
        </p:spPr>
        <p:txBody>
          <a:bodyPr wrap="square" lIns="0" rIns="0" tIns="0" bIns="0" anchor="t">
            <a:spAutoFit/>
          </a:bodyPr>
          <a:lstStyle/>
          <a:p>
            <a:pPr algn="l"/>
            <a:r>
              <a:rPr sz="1400" b="0" i="0">
                <a:solidFill>
                  <a:srgbClr val="5F6B78"/>
                </a:solidFill>
                <a:latin typeface="Calibri"/>
              </a:rPr>
              <a:t>Plus compatibility checker, donor search by group and city, profile and history, admin unit management and dashboard charts.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SCREENS  |  HOME PAGE</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The public home page helps people before they log in</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6</a:t>
            </a:r>
          </a:p>
        </p:txBody>
      </p:sp>
      <p:pic>
        <p:nvPicPr>
          <p:cNvPr id="6" name="Picture 5" descr="LifeDrop home page with ticker, hero section and live counters"/>
          <p:cNvPicPr>
            <a:picLocks noChangeAspect="1"/>
          </p:cNvPicPr>
          <p:nvPr/>
        </p:nvPicPr>
        <p:blipFill>
          <a:blip r:embed="rId2"/>
          <a:stretch>
            <a:fillRect/>
          </a:stretch>
        </p:blipFill>
        <p:spPr>
          <a:xfrm>
            <a:off x="640080" y="1691640"/>
            <a:ext cx="7315200" cy="4284158"/>
          </a:xfrm>
          <a:prstGeom prst="rect">
            <a:avLst/>
          </a:prstGeom>
        </p:spPr>
      </p:pic>
      <p:sp>
        <p:nvSpPr>
          <p:cNvPr id="7" name="TextBox 6"/>
          <p:cNvSpPr txBox="1"/>
          <p:nvPr/>
        </p:nvSpPr>
        <p:spPr>
          <a:xfrm>
            <a:off x="8229600" y="1920240"/>
            <a:ext cx="3383280" cy="4206240"/>
          </a:xfrm>
          <a:prstGeom prst="rect">
            <a:avLst/>
          </a:prstGeom>
          <a:noFill/>
        </p:spPr>
        <p:txBody>
          <a:bodyPr wrap="square" lIns="0" rIns="0" tIns="0" bIns="0">
            <a:spAutoFit/>
          </a:bodyPr>
          <a:lstStyle/>
          <a:p>
            <a:pPr marL="256032" indent="-256032">
              <a:spcAft>
                <a:spcPts val="1200"/>
              </a:spcAft>
              <a:buClr>
                <a:srgbClr val="C62828"/>
              </a:buClr>
              <a:buChar char="•"/>
            </a:pPr>
            <a:r>
              <a:rPr b="1" sz="1600">
                <a:solidFill>
                  <a:srgbClr val="1F2933"/>
                </a:solidFill>
                <a:latin typeface="Calibri"/>
              </a:rPr>
              <a:t>Rolling ticker: </a:t>
            </a:r>
            <a:r>
              <a:rPr sz="1600">
                <a:solidFill>
                  <a:srgbClr val="1F2933"/>
                </a:solidFill>
                <a:latin typeface="Calibri"/>
              </a:rPr>
              <a:t>urgent requests, low stock and camps, read live from the database</a:t>
            </a:r>
          </a:p>
          <a:p>
            <a:pPr marL="256032" indent="-256032">
              <a:spcAft>
                <a:spcPts val="1200"/>
              </a:spcAft>
              <a:buClr>
                <a:srgbClr val="C62828"/>
              </a:buClr>
              <a:buChar char="•"/>
            </a:pPr>
            <a:r>
              <a:rPr b="1" sz="1600">
                <a:solidFill>
                  <a:srgbClr val="1F2933"/>
                </a:solidFill>
                <a:latin typeface="Calibri"/>
              </a:rPr>
              <a:t>Live availability: </a:t>
            </a:r>
            <a:r>
              <a:rPr sz="1600">
                <a:solidFill>
                  <a:srgbClr val="1F2933"/>
                </a:solidFill>
                <a:latin typeface="Calibri"/>
              </a:rPr>
              <a:t>8 blood group tiles refresh every 30 seconds</a:t>
            </a:r>
          </a:p>
          <a:p>
            <a:pPr marL="256032" indent="-256032">
              <a:spcAft>
                <a:spcPts val="1200"/>
              </a:spcAft>
              <a:buClr>
                <a:srgbClr val="C62828"/>
              </a:buClr>
              <a:buChar char="•"/>
            </a:pPr>
            <a:r>
              <a:rPr b="1" sz="1600">
                <a:solidFill>
                  <a:srgbClr val="1F2933"/>
                </a:solidFill>
                <a:latin typeface="Calibri"/>
              </a:rPr>
              <a:t>Camps and rules: </a:t>
            </a:r>
            <a:r>
              <a:rPr sz="1600">
                <a:solidFill>
                  <a:srgbClr val="1F2933"/>
                </a:solidFill>
                <a:latin typeface="Calibri"/>
              </a:rPr>
              <a:t>who can donate, FAQ and a compatibility checker</a:t>
            </a:r>
          </a:p>
          <a:p>
            <a:pPr marL="256032" indent="-256032">
              <a:spcAft>
                <a:spcPts val="1200"/>
              </a:spcAft>
              <a:buClr>
                <a:srgbClr val="C62828"/>
              </a:buClr>
              <a:buChar char="•"/>
            </a:pPr>
            <a:r>
              <a:rPr b="1" sz="1600">
                <a:solidFill>
                  <a:srgbClr val="1F2933"/>
                </a:solidFill>
                <a:latin typeface="Calibri"/>
              </a:rPr>
              <a:t>Privacy: </a:t>
            </a:r>
            <a:r>
              <a:rPr sz="1600">
                <a:solidFill>
                  <a:srgbClr val="1F2933"/>
                </a:solidFill>
                <a:latin typeface="Calibri"/>
              </a:rPr>
              <a:t>patient names are never shown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TECHNOLOGY STACK</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A simple stack that runs on any laptop with no setup headaches</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7</a:t>
            </a:r>
          </a:p>
        </p:txBody>
      </p:sp>
      <p:sp>
        <p:nvSpPr>
          <p:cNvPr id="6" name="Rectangle 5"/>
          <p:cNvSpPr/>
          <p:nvPr/>
        </p:nvSpPr>
        <p:spPr>
          <a:xfrm>
            <a:off x="640080" y="1783080"/>
            <a:ext cx="2011680" cy="10972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1783080"/>
            <a:ext cx="2011680" cy="1097280"/>
          </a:xfrm>
          <a:prstGeom prst="rect">
            <a:avLst/>
          </a:prstGeom>
          <a:noFill/>
        </p:spPr>
        <p:txBody>
          <a:bodyPr wrap="square" lIns="0" rIns="0" tIns="0" bIns="0" anchor="ctr">
            <a:spAutoFit/>
          </a:bodyPr>
          <a:lstStyle/>
          <a:p>
            <a:pPr algn="ctr"/>
            <a:r>
              <a:rPr sz="2200" b="1" i="0">
                <a:solidFill>
                  <a:srgbClr val="FFFFFF"/>
                </a:solidFill>
                <a:latin typeface="Calibri"/>
              </a:rPr>
              <a:t>Frontend</a:t>
            </a:r>
          </a:p>
        </p:txBody>
      </p:sp>
      <p:sp>
        <p:nvSpPr>
          <p:cNvPr id="8" name="Rectangle 7"/>
          <p:cNvSpPr/>
          <p:nvPr/>
        </p:nvSpPr>
        <p:spPr>
          <a:xfrm>
            <a:off x="2651760" y="1783080"/>
            <a:ext cx="8899855" cy="10972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26080" y="1947672"/>
            <a:ext cx="4572000" cy="365760"/>
          </a:xfrm>
          <a:prstGeom prst="rect">
            <a:avLst/>
          </a:prstGeom>
          <a:noFill/>
        </p:spPr>
        <p:txBody>
          <a:bodyPr wrap="square" lIns="0" rIns="0" tIns="0" bIns="0" anchor="t">
            <a:spAutoFit/>
          </a:bodyPr>
          <a:lstStyle/>
          <a:p>
            <a:pPr algn="l"/>
            <a:r>
              <a:rPr sz="2000" b="1" i="0">
                <a:solidFill>
                  <a:srgbClr val="1F2933"/>
                </a:solidFill>
                <a:latin typeface="Calibri"/>
              </a:rPr>
              <a:t>HTML + CSS + JavaScript</a:t>
            </a:r>
          </a:p>
        </p:txBody>
      </p:sp>
      <p:sp>
        <p:nvSpPr>
          <p:cNvPr id="10" name="TextBox 9"/>
          <p:cNvSpPr txBox="1"/>
          <p:nvPr/>
        </p:nvSpPr>
        <p:spPr>
          <a:xfrm>
            <a:off x="2926080" y="2331720"/>
            <a:ext cx="8351215" cy="548640"/>
          </a:xfrm>
          <a:prstGeom prst="rect">
            <a:avLst/>
          </a:prstGeom>
          <a:noFill/>
        </p:spPr>
        <p:txBody>
          <a:bodyPr wrap="square" lIns="0" rIns="0" tIns="0" bIns="0" anchor="t">
            <a:spAutoFit/>
          </a:bodyPr>
          <a:lstStyle/>
          <a:p>
            <a:pPr algn="l"/>
            <a:r>
              <a:rPr sz="1500" b="0" i="0">
                <a:solidFill>
                  <a:srgbClr val="5F6B78"/>
                </a:solidFill>
                <a:latin typeface="Calibri"/>
              </a:rPr>
              <a:t>No framework or build step. Every line can be explained. Charts are drawn on canvas, so no internet is needed.</a:t>
            </a:r>
          </a:p>
        </p:txBody>
      </p:sp>
      <p:sp>
        <p:nvSpPr>
          <p:cNvPr id="11" name="Rectangle 10"/>
          <p:cNvSpPr/>
          <p:nvPr/>
        </p:nvSpPr>
        <p:spPr>
          <a:xfrm>
            <a:off x="640080" y="3063239"/>
            <a:ext cx="2011680" cy="109728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063239"/>
            <a:ext cx="2011680" cy="1097280"/>
          </a:xfrm>
          <a:prstGeom prst="rect">
            <a:avLst/>
          </a:prstGeom>
          <a:noFill/>
        </p:spPr>
        <p:txBody>
          <a:bodyPr wrap="square" lIns="0" rIns="0" tIns="0" bIns="0" anchor="ctr">
            <a:spAutoFit/>
          </a:bodyPr>
          <a:lstStyle/>
          <a:p>
            <a:pPr algn="ctr"/>
            <a:r>
              <a:rPr sz="2200" b="1" i="0">
                <a:solidFill>
                  <a:srgbClr val="FFFFFF"/>
                </a:solidFill>
                <a:latin typeface="Calibri"/>
              </a:rPr>
              <a:t>Backend</a:t>
            </a:r>
          </a:p>
        </p:txBody>
      </p:sp>
      <p:sp>
        <p:nvSpPr>
          <p:cNvPr id="13" name="Rectangle 12"/>
          <p:cNvSpPr/>
          <p:nvPr/>
        </p:nvSpPr>
        <p:spPr>
          <a:xfrm>
            <a:off x="2651760" y="3063239"/>
            <a:ext cx="8899855" cy="10972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26080" y="3227832"/>
            <a:ext cx="4572000" cy="365760"/>
          </a:xfrm>
          <a:prstGeom prst="rect">
            <a:avLst/>
          </a:prstGeom>
          <a:noFill/>
        </p:spPr>
        <p:txBody>
          <a:bodyPr wrap="square" lIns="0" rIns="0" tIns="0" bIns="0" anchor="t">
            <a:spAutoFit/>
          </a:bodyPr>
          <a:lstStyle/>
          <a:p>
            <a:pPr algn="l"/>
            <a:r>
              <a:rPr sz="2000" b="1" i="0">
                <a:solidFill>
                  <a:srgbClr val="1F2933"/>
                </a:solidFill>
                <a:latin typeface="Calibri"/>
              </a:rPr>
              <a:t>Python + FastAPI</a:t>
            </a:r>
          </a:p>
        </p:txBody>
      </p:sp>
      <p:sp>
        <p:nvSpPr>
          <p:cNvPr id="15" name="TextBox 14"/>
          <p:cNvSpPr txBox="1"/>
          <p:nvPr/>
        </p:nvSpPr>
        <p:spPr>
          <a:xfrm>
            <a:off x="2926080" y="3611879"/>
            <a:ext cx="8351215" cy="548640"/>
          </a:xfrm>
          <a:prstGeom prst="rect">
            <a:avLst/>
          </a:prstGeom>
          <a:noFill/>
        </p:spPr>
        <p:txBody>
          <a:bodyPr wrap="square" lIns="0" rIns="0" tIns="0" bIns="0" anchor="t">
            <a:spAutoFit/>
          </a:bodyPr>
          <a:lstStyle/>
          <a:p>
            <a:pPr algn="l"/>
            <a:r>
              <a:rPr sz="1500" b="0" i="0">
                <a:solidFill>
                  <a:srgbClr val="5F6B78"/>
                </a:solidFill>
                <a:latin typeface="Calibri"/>
              </a:rPr>
              <a:t>Short readable code, automatic input validation, and API documentation generated at /docs.</a:t>
            </a:r>
          </a:p>
        </p:txBody>
      </p:sp>
      <p:sp>
        <p:nvSpPr>
          <p:cNvPr id="16" name="Rectangle 15"/>
          <p:cNvSpPr/>
          <p:nvPr/>
        </p:nvSpPr>
        <p:spPr>
          <a:xfrm>
            <a:off x="640080" y="4343400"/>
            <a:ext cx="2011680" cy="10972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4343400"/>
            <a:ext cx="2011680" cy="1097280"/>
          </a:xfrm>
          <a:prstGeom prst="rect">
            <a:avLst/>
          </a:prstGeom>
          <a:noFill/>
        </p:spPr>
        <p:txBody>
          <a:bodyPr wrap="square" lIns="0" rIns="0" tIns="0" bIns="0" anchor="ctr">
            <a:spAutoFit/>
          </a:bodyPr>
          <a:lstStyle/>
          <a:p>
            <a:pPr algn="ctr"/>
            <a:r>
              <a:rPr sz="2200" b="1" i="0">
                <a:solidFill>
                  <a:srgbClr val="FFFFFF"/>
                </a:solidFill>
                <a:latin typeface="Calibri"/>
              </a:rPr>
              <a:t>Database</a:t>
            </a:r>
          </a:p>
        </p:txBody>
      </p:sp>
      <p:sp>
        <p:nvSpPr>
          <p:cNvPr id="18" name="Rectangle 17"/>
          <p:cNvSpPr/>
          <p:nvPr/>
        </p:nvSpPr>
        <p:spPr>
          <a:xfrm>
            <a:off x="2651760" y="4343400"/>
            <a:ext cx="8899855" cy="10972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26080" y="4507992"/>
            <a:ext cx="4572000" cy="365760"/>
          </a:xfrm>
          <a:prstGeom prst="rect">
            <a:avLst/>
          </a:prstGeom>
          <a:noFill/>
        </p:spPr>
        <p:txBody>
          <a:bodyPr wrap="square" lIns="0" rIns="0" tIns="0" bIns="0" anchor="t">
            <a:spAutoFit/>
          </a:bodyPr>
          <a:lstStyle/>
          <a:p>
            <a:pPr algn="l"/>
            <a:r>
              <a:rPr sz="2000" b="1" i="0">
                <a:solidFill>
                  <a:srgbClr val="1F2933"/>
                </a:solidFill>
                <a:latin typeface="Calibri"/>
              </a:rPr>
              <a:t>SQLite</a:t>
            </a:r>
          </a:p>
        </p:txBody>
      </p:sp>
      <p:sp>
        <p:nvSpPr>
          <p:cNvPr id="20" name="TextBox 19"/>
          <p:cNvSpPr txBox="1"/>
          <p:nvPr/>
        </p:nvSpPr>
        <p:spPr>
          <a:xfrm>
            <a:off x="2926080" y="4892040"/>
            <a:ext cx="8351215" cy="548640"/>
          </a:xfrm>
          <a:prstGeom prst="rect">
            <a:avLst/>
          </a:prstGeom>
          <a:noFill/>
        </p:spPr>
        <p:txBody>
          <a:bodyPr wrap="square" lIns="0" rIns="0" tIns="0" bIns="0" anchor="t">
            <a:spAutoFit/>
          </a:bodyPr>
          <a:lstStyle/>
          <a:p>
            <a:pPr algn="l"/>
            <a:r>
              <a:rPr sz="1500" b="0" i="0">
                <a:solidFill>
                  <a:srgbClr val="5F6B78"/>
                </a:solidFill>
                <a:latin typeface="Calibri"/>
              </a:rPr>
              <a:t>Single file, real SQL with foreign keys and constraints. Can move to MySQL or PostgreSQL later.</a:t>
            </a:r>
          </a:p>
        </p:txBody>
      </p:sp>
      <p:sp>
        <p:nvSpPr>
          <p:cNvPr id="21" name="TextBox 20"/>
          <p:cNvSpPr txBox="1"/>
          <p:nvPr/>
        </p:nvSpPr>
        <p:spPr>
          <a:xfrm>
            <a:off x="640080" y="5669280"/>
            <a:ext cx="10911535" cy="548640"/>
          </a:xfrm>
          <a:prstGeom prst="rect">
            <a:avLst/>
          </a:prstGeom>
          <a:noFill/>
        </p:spPr>
        <p:txBody>
          <a:bodyPr wrap="square" lIns="0" rIns="0" tIns="0" bIns="0" anchor="t">
            <a:spAutoFit/>
          </a:bodyPr>
          <a:lstStyle/>
          <a:p>
            <a:pPr algn="l"/>
            <a:r>
              <a:rPr sz="1500" b="1" i="0">
                <a:solidFill>
                  <a:srgbClr val="8E0000"/>
                </a:solidFill>
                <a:latin typeface="Calibri"/>
              </a:rPr>
              <a:t>Why FastAPI over Flask or Django?  Automatic validation and documentation, high speed, and a clean fit for a JavaScript frontend that calls a REST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ARCHITECTURE</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The browser talks only to the API, never to the database</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8</a:t>
            </a:r>
          </a:p>
        </p:txBody>
      </p:sp>
      <p:pic>
        <p:nvPicPr>
          <p:cNvPr id="6" name="Picture 5" descr="System architecture: browser, FastAPI backend and SQLite database in three layers"/>
          <p:cNvPicPr>
            <a:picLocks noChangeAspect="1"/>
          </p:cNvPicPr>
          <p:nvPr/>
        </p:nvPicPr>
        <p:blipFill>
          <a:blip r:embed="rId2"/>
          <a:stretch>
            <a:fillRect/>
          </a:stretch>
        </p:blipFill>
        <p:spPr>
          <a:xfrm>
            <a:off x="914247" y="1645920"/>
            <a:ext cx="10363200" cy="46634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DATABASE DESIGN</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Eight related tables keep donors, stock and requests consistent</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9</a:t>
            </a:r>
          </a:p>
        </p:txBody>
      </p:sp>
      <p:pic>
        <p:nvPicPr>
          <p:cNvPr id="6" name="Picture 5" descr="Entity relationship diagram showing seven key tables and their relationships"/>
          <p:cNvPicPr>
            <a:picLocks noChangeAspect="1"/>
          </p:cNvPicPr>
          <p:nvPr/>
        </p:nvPicPr>
        <p:blipFill>
          <a:blip r:embed="rId2"/>
          <a:stretch>
            <a:fillRect/>
          </a:stretch>
        </p:blipFill>
        <p:spPr>
          <a:xfrm>
            <a:off x="821719" y="1600200"/>
            <a:ext cx="10548257" cy="4343400"/>
          </a:xfrm>
          <a:prstGeom prst="rect">
            <a:avLst/>
          </a:prstGeom>
        </p:spPr>
      </p:pic>
      <p:sp>
        <p:nvSpPr>
          <p:cNvPr id="7" name="TextBox 6"/>
          <p:cNvSpPr txBox="1"/>
          <p:nvPr/>
        </p:nvSpPr>
        <p:spPr>
          <a:xfrm>
            <a:off x="640080" y="5943600"/>
            <a:ext cx="10911535" cy="457200"/>
          </a:xfrm>
          <a:prstGeom prst="rect">
            <a:avLst/>
          </a:prstGeom>
          <a:noFill/>
        </p:spPr>
        <p:txBody>
          <a:bodyPr wrap="square" lIns="0" rIns="0" tIns="0" bIns="0" anchor="t">
            <a:spAutoFit/>
          </a:bodyPr>
          <a:lstStyle/>
          <a:p>
            <a:pPr algn="l"/>
            <a:r>
              <a:rPr sz="1400" b="0" i="0">
                <a:solidFill>
                  <a:srgbClr val="5F6B78"/>
                </a:solidFill>
                <a:latin typeface="Calibri"/>
              </a:rPr>
              <a:t>blood_units is the most important table: one row per bag with collection date, expiry date and status. Foreign keys and CHECK rules stop invalid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CORE WORKFLOW</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A blood request moves from hospital to issued units in five steps</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10</a:t>
            </a:r>
          </a:p>
        </p:txBody>
      </p:sp>
      <p:pic>
        <p:nvPicPr>
          <p:cNvPr id="6" name="Picture 5" descr="Workflow: hospital submits, system stores as pending, admin reviews, system picks oldest units, result fulfilled or rejected"/>
          <p:cNvPicPr>
            <a:picLocks noChangeAspect="1"/>
          </p:cNvPicPr>
          <p:nvPr/>
        </p:nvPicPr>
        <p:blipFill>
          <a:blip r:embed="rId2"/>
          <a:stretch>
            <a:fillRect/>
          </a:stretch>
        </p:blipFill>
        <p:spPr>
          <a:xfrm>
            <a:off x="1119810" y="1828800"/>
            <a:ext cx="9952074" cy="2377440"/>
          </a:xfrm>
          <a:prstGeom prst="rect">
            <a:avLst/>
          </a:prstGeom>
        </p:spPr>
      </p:pic>
      <p:sp>
        <p:nvSpPr>
          <p:cNvPr id="7" name="TextBox 6"/>
          <p:cNvSpPr txBox="1"/>
          <p:nvPr/>
        </p:nvSpPr>
        <p:spPr>
          <a:xfrm>
            <a:off x="640080" y="4572000"/>
            <a:ext cx="10911535" cy="1645920"/>
          </a:xfrm>
          <a:prstGeom prst="rect">
            <a:avLst/>
          </a:prstGeom>
          <a:noFill/>
        </p:spPr>
        <p:txBody>
          <a:bodyPr wrap="square" lIns="0" rIns="0" tIns="0" bIns="0">
            <a:spAutoFit/>
          </a:bodyPr>
          <a:lstStyle/>
          <a:p>
            <a:pPr marL="256032" indent="-256032">
              <a:spcAft>
                <a:spcPts val="1000"/>
              </a:spcAft>
              <a:buClr>
                <a:srgbClr val="C62828"/>
              </a:buClr>
              <a:buChar char="•"/>
            </a:pPr>
            <a:r>
              <a:rPr b="1" sz="1800">
                <a:solidFill>
                  <a:srgbClr val="1F2933"/>
                </a:solidFill>
                <a:latin typeface="Calibri"/>
              </a:rPr>
              <a:t>Priority: </a:t>
            </a:r>
            <a:r>
              <a:rPr sz="1800">
                <a:solidFill>
                  <a:srgbClr val="1F2933"/>
                </a:solidFill>
                <a:latin typeface="Calibri"/>
              </a:rPr>
              <a:t>critical and urgent requests appear first for the admin</a:t>
            </a:r>
          </a:p>
          <a:p>
            <a:pPr marL="256032" indent="-256032">
              <a:spcAft>
                <a:spcPts val="1000"/>
              </a:spcAft>
              <a:buClr>
                <a:srgbClr val="C62828"/>
              </a:buClr>
              <a:buChar char="•"/>
            </a:pPr>
            <a:r>
              <a:rPr b="1" sz="1800">
                <a:solidFill>
                  <a:srgbClr val="1F2933"/>
                </a:solidFill>
                <a:latin typeface="Calibri"/>
              </a:rPr>
              <a:t>Fairness: </a:t>
            </a:r>
            <a:r>
              <a:rPr sz="1800">
                <a:solidFill>
                  <a:srgbClr val="1F2933"/>
                </a:solidFill>
                <a:latin typeface="Calibri"/>
              </a:rPr>
              <a:t>the oldest units are issued first, so fewer units expire</a:t>
            </a:r>
          </a:p>
          <a:p>
            <a:pPr marL="256032" indent="-256032">
              <a:spcAft>
                <a:spcPts val="1000"/>
              </a:spcAft>
              <a:buClr>
                <a:srgbClr val="C62828"/>
              </a:buClr>
              <a:buChar char="•"/>
            </a:pPr>
            <a:r>
              <a:rPr b="1" sz="1800">
                <a:solidFill>
                  <a:srgbClr val="1F2933"/>
                </a:solidFill>
                <a:latin typeface="Calibri"/>
              </a:rPr>
              <a:t>Safety net: </a:t>
            </a:r>
            <a:r>
              <a:rPr sz="1800">
                <a:solidFill>
                  <a:srgbClr val="1F2933"/>
                </a:solidFill>
                <a:latin typeface="Calibri"/>
              </a:rPr>
              <a:t>if exact stock is short, the admin may allow compatible groups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BUSINESS RULES</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Medical rules are enforced by the server, not left to the user</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11</a:t>
            </a:r>
          </a:p>
        </p:txBody>
      </p:sp>
      <p:sp>
        <p:nvSpPr>
          <p:cNvPr id="6" name="Rectangle 5"/>
          <p:cNvSpPr/>
          <p:nvPr/>
        </p:nvSpPr>
        <p:spPr>
          <a:xfrm>
            <a:off x="640080" y="2103120"/>
            <a:ext cx="1999427" cy="20116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0080" y="2103120"/>
            <a:ext cx="91440" cy="2011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2514600"/>
            <a:ext cx="1633667" cy="731520"/>
          </a:xfrm>
          <a:prstGeom prst="rect">
            <a:avLst/>
          </a:prstGeom>
          <a:noFill/>
        </p:spPr>
        <p:txBody>
          <a:bodyPr wrap="square" lIns="0" rIns="0" tIns="0" bIns="0" anchor="t">
            <a:spAutoFit/>
          </a:bodyPr>
          <a:lstStyle/>
          <a:p>
            <a:pPr algn="l"/>
            <a:r>
              <a:rPr sz="2800" b="1" i="0">
                <a:solidFill>
                  <a:srgbClr val="C62828"/>
                </a:solidFill>
                <a:latin typeface="Calibri"/>
              </a:rPr>
              <a:t>18 - 65</a:t>
            </a:r>
          </a:p>
        </p:txBody>
      </p:sp>
      <p:sp>
        <p:nvSpPr>
          <p:cNvPr id="9" name="TextBox 8"/>
          <p:cNvSpPr txBox="1"/>
          <p:nvPr/>
        </p:nvSpPr>
        <p:spPr>
          <a:xfrm>
            <a:off x="914400" y="3291840"/>
            <a:ext cx="1633667" cy="731520"/>
          </a:xfrm>
          <a:prstGeom prst="rect">
            <a:avLst/>
          </a:prstGeom>
          <a:noFill/>
        </p:spPr>
        <p:txBody>
          <a:bodyPr wrap="square" lIns="0" rIns="0" tIns="0" bIns="0" anchor="t">
            <a:spAutoFit/>
          </a:bodyPr>
          <a:lstStyle/>
          <a:p>
            <a:pPr algn="l"/>
            <a:r>
              <a:rPr sz="1500" b="0" i="0">
                <a:solidFill>
                  <a:srgbClr val="5F6B78"/>
                </a:solidFill>
                <a:latin typeface="Calibri"/>
              </a:rPr>
              <a:t>years: donor age</a:t>
            </a:r>
          </a:p>
        </p:txBody>
      </p:sp>
      <p:sp>
        <p:nvSpPr>
          <p:cNvPr id="10" name="Rectangle 9"/>
          <p:cNvSpPr/>
          <p:nvPr/>
        </p:nvSpPr>
        <p:spPr>
          <a:xfrm>
            <a:off x="2868107" y="2103120"/>
            <a:ext cx="1999427" cy="20116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868107" y="2103120"/>
            <a:ext cx="91440" cy="2011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42427" y="2514600"/>
            <a:ext cx="1633667" cy="731520"/>
          </a:xfrm>
          <a:prstGeom prst="rect">
            <a:avLst/>
          </a:prstGeom>
          <a:noFill/>
        </p:spPr>
        <p:txBody>
          <a:bodyPr wrap="square" lIns="0" rIns="0" tIns="0" bIns="0" anchor="t">
            <a:spAutoFit/>
          </a:bodyPr>
          <a:lstStyle/>
          <a:p>
            <a:pPr algn="l"/>
            <a:r>
              <a:rPr sz="2800" b="1" i="0">
                <a:solidFill>
                  <a:srgbClr val="C62828"/>
                </a:solidFill>
                <a:latin typeface="Calibri"/>
              </a:rPr>
              <a:t>50 kg</a:t>
            </a:r>
          </a:p>
        </p:txBody>
      </p:sp>
      <p:sp>
        <p:nvSpPr>
          <p:cNvPr id="13" name="TextBox 12"/>
          <p:cNvSpPr txBox="1"/>
          <p:nvPr/>
        </p:nvSpPr>
        <p:spPr>
          <a:xfrm>
            <a:off x="3142427" y="3291840"/>
            <a:ext cx="1633667" cy="731520"/>
          </a:xfrm>
          <a:prstGeom prst="rect">
            <a:avLst/>
          </a:prstGeom>
          <a:noFill/>
        </p:spPr>
        <p:txBody>
          <a:bodyPr wrap="square" lIns="0" rIns="0" tIns="0" bIns="0" anchor="t">
            <a:spAutoFit/>
          </a:bodyPr>
          <a:lstStyle/>
          <a:p>
            <a:pPr algn="l"/>
            <a:r>
              <a:rPr sz="1500" b="0" i="0">
                <a:solidFill>
                  <a:srgbClr val="5F6B78"/>
                </a:solidFill>
                <a:latin typeface="Calibri"/>
              </a:rPr>
              <a:t>minimum donor weight</a:t>
            </a:r>
          </a:p>
        </p:txBody>
      </p:sp>
      <p:sp>
        <p:nvSpPr>
          <p:cNvPr id="14" name="Rectangle 13"/>
          <p:cNvSpPr/>
          <p:nvPr/>
        </p:nvSpPr>
        <p:spPr>
          <a:xfrm>
            <a:off x="5096134" y="2103120"/>
            <a:ext cx="1999427" cy="20116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96134" y="2103120"/>
            <a:ext cx="91440" cy="2011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370454" y="2514600"/>
            <a:ext cx="1633667" cy="731520"/>
          </a:xfrm>
          <a:prstGeom prst="rect">
            <a:avLst/>
          </a:prstGeom>
          <a:noFill/>
        </p:spPr>
        <p:txBody>
          <a:bodyPr wrap="square" lIns="0" rIns="0" tIns="0" bIns="0" anchor="t">
            <a:spAutoFit/>
          </a:bodyPr>
          <a:lstStyle/>
          <a:p>
            <a:pPr algn="l"/>
            <a:r>
              <a:rPr sz="2800" b="1" i="0">
                <a:solidFill>
                  <a:srgbClr val="C62828"/>
                </a:solidFill>
                <a:latin typeface="Calibri"/>
              </a:rPr>
              <a:t>12.5 g/dL</a:t>
            </a:r>
          </a:p>
        </p:txBody>
      </p:sp>
      <p:sp>
        <p:nvSpPr>
          <p:cNvPr id="17" name="TextBox 16"/>
          <p:cNvSpPr txBox="1"/>
          <p:nvPr/>
        </p:nvSpPr>
        <p:spPr>
          <a:xfrm>
            <a:off x="5370454" y="3291840"/>
            <a:ext cx="1633667" cy="731520"/>
          </a:xfrm>
          <a:prstGeom prst="rect">
            <a:avLst/>
          </a:prstGeom>
          <a:noFill/>
        </p:spPr>
        <p:txBody>
          <a:bodyPr wrap="square" lIns="0" rIns="0" tIns="0" bIns="0" anchor="t">
            <a:spAutoFit/>
          </a:bodyPr>
          <a:lstStyle/>
          <a:p>
            <a:pPr algn="l"/>
            <a:r>
              <a:rPr sz="1500" b="0" i="0">
                <a:solidFill>
                  <a:srgbClr val="5F6B78"/>
                </a:solidFill>
                <a:latin typeface="Calibri"/>
              </a:rPr>
              <a:t>minimum haemoglobin</a:t>
            </a:r>
          </a:p>
        </p:txBody>
      </p:sp>
      <p:sp>
        <p:nvSpPr>
          <p:cNvPr id="18" name="Rectangle 17"/>
          <p:cNvSpPr/>
          <p:nvPr/>
        </p:nvSpPr>
        <p:spPr>
          <a:xfrm>
            <a:off x="7324161" y="2103120"/>
            <a:ext cx="1999427" cy="20116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24161" y="2103120"/>
            <a:ext cx="91440" cy="2011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598481" y="2514600"/>
            <a:ext cx="1633667" cy="731520"/>
          </a:xfrm>
          <a:prstGeom prst="rect">
            <a:avLst/>
          </a:prstGeom>
          <a:noFill/>
        </p:spPr>
        <p:txBody>
          <a:bodyPr wrap="square" lIns="0" rIns="0" tIns="0" bIns="0" anchor="t">
            <a:spAutoFit/>
          </a:bodyPr>
          <a:lstStyle/>
          <a:p>
            <a:pPr algn="l"/>
            <a:r>
              <a:rPr sz="2800" b="1" i="0">
                <a:solidFill>
                  <a:srgbClr val="C62828"/>
                </a:solidFill>
                <a:latin typeface="Calibri"/>
              </a:rPr>
              <a:t>3 / 4 mo</a:t>
            </a:r>
          </a:p>
        </p:txBody>
      </p:sp>
      <p:sp>
        <p:nvSpPr>
          <p:cNvPr id="21" name="TextBox 20"/>
          <p:cNvSpPr txBox="1"/>
          <p:nvPr/>
        </p:nvSpPr>
        <p:spPr>
          <a:xfrm>
            <a:off x="7598481" y="3291840"/>
            <a:ext cx="1633667" cy="731520"/>
          </a:xfrm>
          <a:prstGeom prst="rect">
            <a:avLst/>
          </a:prstGeom>
          <a:noFill/>
        </p:spPr>
        <p:txBody>
          <a:bodyPr wrap="square" lIns="0" rIns="0" tIns="0" bIns="0" anchor="t">
            <a:spAutoFit/>
          </a:bodyPr>
          <a:lstStyle/>
          <a:p>
            <a:pPr algn="l"/>
            <a:r>
              <a:rPr sz="1500" b="0" i="0">
                <a:solidFill>
                  <a:srgbClr val="5F6B78"/>
                </a:solidFill>
                <a:latin typeface="Calibri"/>
              </a:rPr>
              <a:t>gap for men / women</a:t>
            </a:r>
          </a:p>
        </p:txBody>
      </p:sp>
      <p:sp>
        <p:nvSpPr>
          <p:cNvPr id="22" name="Rectangle 21"/>
          <p:cNvSpPr/>
          <p:nvPr/>
        </p:nvSpPr>
        <p:spPr>
          <a:xfrm>
            <a:off x="9552188" y="2103120"/>
            <a:ext cx="1999427" cy="201168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552188" y="2103120"/>
            <a:ext cx="91440" cy="2011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826508" y="2514600"/>
            <a:ext cx="1633667" cy="731520"/>
          </a:xfrm>
          <a:prstGeom prst="rect">
            <a:avLst/>
          </a:prstGeom>
          <a:noFill/>
        </p:spPr>
        <p:txBody>
          <a:bodyPr wrap="square" lIns="0" rIns="0" tIns="0" bIns="0" anchor="t">
            <a:spAutoFit/>
          </a:bodyPr>
          <a:lstStyle/>
          <a:p>
            <a:pPr algn="l"/>
            <a:r>
              <a:rPr sz="2800" b="1" i="0">
                <a:solidFill>
                  <a:srgbClr val="C62828"/>
                </a:solidFill>
                <a:latin typeface="Calibri"/>
              </a:rPr>
              <a:t>42 days</a:t>
            </a:r>
          </a:p>
        </p:txBody>
      </p:sp>
      <p:sp>
        <p:nvSpPr>
          <p:cNvPr id="25" name="TextBox 24"/>
          <p:cNvSpPr txBox="1"/>
          <p:nvPr/>
        </p:nvSpPr>
        <p:spPr>
          <a:xfrm>
            <a:off x="9826508" y="3291840"/>
            <a:ext cx="1633667" cy="731520"/>
          </a:xfrm>
          <a:prstGeom prst="rect">
            <a:avLst/>
          </a:prstGeom>
          <a:noFill/>
        </p:spPr>
        <p:txBody>
          <a:bodyPr wrap="square" lIns="0" rIns="0" tIns="0" bIns="0" anchor="t">
            <a:spAutoFit/>
          </a:bodyPr>
          <a:lstStyle/>
          <a:p>
            <a:pPr algn="l"/>
            <a:r>
              <a:rPr sz="1500" b="0" i="0">
                <a:solidFill>
                  <a:srgbClr val="5F6B78"/>
                </a:solidFill>
                <a:latin typeface="Calibri"/>
              </a:rPr>
              <a:t>shelf life of a unit</a:t>
            </a:r>
          </a:p>
        </p:txBody>
      </p:sp>
      <p:sp>
        <p:nvSpPr>
          <p:cNvPr id="26" name="TextBox 25"/>
          <p:cNvSpPr txBox="1"/>
          <p:nvPr/>
        </p:nvSpPr>
        <p:spPr>
          <a:xfrm>
            <a:off x="640080" y="4572000"/>
            <a:ext cx="10911535" cy="1645920"/>
          </a:xfrm>
          <a:prstGeom prst="rect">
            <a:avLst/>
          </a:prstGeom>
          <a:noFill/>
        </p:spPr>
        <p:txBody>
          <a:bodyPr wrap="square" lIns="0" rIns="0" tIns="0" bIns="0">
            <a:spAutoFit/>
          </a:bodyPr>
          <a:lstStyle/>
          <a:p>
            <a:pPr marL="256032" indent="-256032">
              <a:spcAft>
                <a:spcPts val="1000"/>
              </a:spcAft>
              <a:buClr>
                <a:srgbClr val="C62828"/>
              </a:buClr>
              <a:buChar char="•"/>
            </a:pPr>
            <a:r>
              <a:rPr sz="1800">
                <a:solidFill>
                  <a:srgbClr val="1F2933"/>
                </a:solidFill>
                <a:latin typeface="Calibri"/>
              </a:rPr>
              <a:t>Rules live in one file (rules.py), so they are easy to change and to explain</a:t>
            </a:r>
          </a:p>
          <a:p>
            <a:pPr marL="256032" indent="-256032">
              <a:spcAft>
                <a:spcPts val="1000"/>
              </a:spcAft>
              <a:buClr>
                <a:srgbClr val="C62828"/>
              </a:buClr>
              <a:buChar char="•"/>
            </a:pPr>
            <a:r>
              <a:rPr sz="1800">
                <a:solidFill>
                  <a:srgbClr val="1F2933"/>
                </a:solidFill>
                <a:latin typeface="Calibri"/>
              </a:rPr>
              <a:t>Booking a camp is blocked for an ineligible donor, and the next possible date is shown</a:t>
            </a:r>
          </a:p>
          <a:p>
            <a:pPr marL="256032" indent="-256032">
              <a:spcAft>
                <a:spcPts val="1000"/>
              </a:spcAft>
              <a:buClr>
                <a:srgbClr val="C62828"/>
              </a:buClr>
              <a:buChar char="•"/>
            </a:pPr>
            <a:r>
              <a:rPr sz="1800">
                <a:solidFill>
                  <a:srgbClr val="1F2933"/>
                </a:solidFill>
                <a:latin typeface="Calibri"/>
              </a:rPr>
              <a:t>Expired units are marked automatically; fewer than 5 units of a group raises a low stock alert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BACKEND CODE  |  RULES.PY</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Code sample 1: donor eligibility is one small, testable function</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12</a:t>
            </a:r>
          </a:p>
        </p:txBody>
      </p:sp>
      <p:sp>
        <p:nvSpPr>
          <p:cNvPr id="6" name="Rounded Rectangle 5"/>
          <p:cNvSpPr/>
          <p:nvPr/>
        </p:nvSpPr>
        <p:spPr>
          <a:xfrm>
            <a:off x="640080" y="1783080"/>
            <a:ext cx="7680960" cy="4206240"/>
          </a:xfrm>
          <a:prstGeom prst="roundRect">
            <a:avLst>
              <a:gd name="adj" fmla="val 3000"/>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65960"/>
            <a:ext cx="7223760" cy="3840479"/>
          </a:xfrm>
          <a:prstGeom prst="rect">
            <a:avLst/>
          </a:prstGeom>
          <a:noFill/>
        </p:spPr>
        <p:txBody>
          <a:bodyPr wrap="none" lIns="0" rIns="0" tIns="0" bIns="0">
            <a:spAutoFit/>
          </a:bodyPr>
          <a:lstStyle/>
          <a:p>
            <a:pPr>
              <a:spcAft>
                <a:spcPts val="0"/>
              </a:spcAft>
            </a:pPr>
            <a:r>
              <a:rPr sz="1400">
                <a:solidFill>
                  <a:srgbClr val="FF7B72"/>
                </a:solidFill>
                <a:latin typeface="Consolas"/>
              </a:rPr>
              <a:t>def</a:t>
            </a:r>
            <a:r>
              <a:rPr sz="1400">
                <a:solidFill>
                  <a:srgbClr val="E6E6E6"/>
                </a:solidFill>
                <a:latin typeface="Consolas"/>
              </a:rPr>
              <a:t> check_eligibility(age, weight, last_donation_date,</a:t>
            </a:r>
          </a:p>
          <a:p>
            <a:pPr>
              <a:spcAft>
                <a:spcPts val="0"/>
              </a:spcAft>
            </a:pPr>
            <a:r>
              <a:rPr sz="1400">
                <a:solidFill>
                  <a:srgbClr val="E6E6E6"/>
                </a:solidFill>
                <a:latin typeface="Consolas"/>
              </a:rPr>
              <a:t>                      gender=</a:t>
            </a:r>
            <a:r>
              <a:rPr sz="1400">
                <a:solidFill>
                  <a:srgbClr val="FF7B72"/>
                </a:solidFill>
                <a:latin typeface="Consolas"/>
              </a:rPr>
              <a:t>None</a:t>
            </a:r>
            <a:r>
              <a:rPr sz="1400">
                <a:solidFill>
                  <a:srgbClr val="E6E6E6"/>
                </a:solidFill>
                <a:latin typeface="Consolas"/>
              </a:rPr>
              <a:t>, haemoglobin=</a:t>
            </a:r>
            <a:r>
              <a:rPr sz="1400">
                <a:solidFill>
                  <a:srgbClr val="FF7B72"/>
                </a:solidFill>
                <a:latin typeface="Consolas"/>
              </a:rPr>
              <a:t>None</a:t>
            </a:r>
            <a:r>
              <a:rPr sz="1400">
                <a:solidFill>
                  <a:srgbClr val="E6E6E6"/>
                </a:solidFill>
                <a:latin typeface="Consolas"/>
              </a:rPr>
              <a:t>):</a:t>
            </a:r>
          </a:p>
          <a:p>
            <a:pPr>
              <a:spcAft>
                <a:spcPts val="0"/>
              </a:spcAft>
            </a:pPr>
            <a:r>
              <a:rPr sz="1400">
                <a:solidFill>
                  <a:srgbClr val="E6E6E6"/>
                </a:solidFill>
                <a:latin typeface="Consolas"/>
              </a:rPr>
              <a:t>    reasons = []</a:t>
            </a:r>
          </a:p>
          <a:p>
            <a:pPr>
              <a:spcAft>
                <a:spcPts val="0"/>
              </a:spcAft>
            </a:pPr>
            <a:r>
              <a:rPr sz="1400">
                <a:solidFill>
                  <a:srgbClr val="E6E6E6"/>
                </a:solidFill>
                <a:latin typeface="Consolas"/>
              </a:rPr>
              <a:t>    </a:t>
            </a:r>
            <a:r>
              <a:rPr sz="1400">
                <a:solidFill>
                  <a:srgbClr val="FF7B72"/>
                </a:solidFill>
                <a:latin typeface="Consolas"/>
              </a:rPr>
              <a:t>if</a:t>
            </a:r>
            <a:r>
              <a:rPr sz="1400">
                <a:solidFill>
                  <a:srgbClr val="E6E6E6"/>
                </a:solidFill>
                <a:latin typeface="Consolas"/>
              </a:rPr>
              <a:t> age &lt; MIN_AGE </a:t>
            </a:r>
            <a:r>
              <a:rPr sz="1400">
                <a:solidFill>
                  <a:srgbClr val="FF7B72"/>
                </a:solidFill>
                <a:latin typeface="Consolas"/>
              </a:rPr>
              <a:t>or</a:t>
            </a:r>
            <a:r>
              <a:rPr sz="1400">
                <a:solidFill>
                  <a:srgbClr val="E6E6E6"/>
                </a:solidFill>
                <a:latin typeface="Consolas"/>
              </a:rPr>
              <a:t> age &gt; MAX_AGE:</a:t>
            </a:r>
          </a:p>
          <a:p>
            <a:pPr>
              <a:spcAft>
                <a:spcPts val="0"/>
              </a:spcAft>
            </a:pPr>
            <a:r>
              <a:rPr sz="1400">
                <a:solidFill>
                  <a:srgbClr val="E6E6E6"/>
                </a:solidFill>
                <a:latin typeface="Consolas"/>
              </a:rPr>
              <a:t>        reasons.append(</a:t>
            </a:r>
            <a:r>
              <a:rPr sz="1400">
                <a:solidFill>
                  <a:srgbClr val="A5D68A"/>
                </a:solidFill>
                <a:latin typeface="Consolas"/>
              </a:rPr>
              <a:t>"Age must be between 18 and 65"</a:t>
            </a:r>
            <a:r>
              <a:rPr sz="1400">
                <a:solidFill>
                  <a:srgbClr val="E6E6E6"/>
                </a:solidFill>
                <a:latin typeface="Consolas"/>
              </a:rPr>
              <a:t>)</a:t>
            </a:r>
          </a:p>
          <a:p>
            <a:pPr>
              <a:spcAft>
                <a:spcPts val="0"/>
              </a:spcAft>
            </a:pPr>
            <a:r>
              <a:rPr sz="1400">
                <a:solidFill>
                  <a:srgbClr val="E6E6E6"/>
                </a:solidFill>
                <a:latin typeface="Consolas"/>
              </a:rPr>
              <a:t>    </a:t>
            </a:r>
            <a:r>
              <a:rPr sz="1400">
                <a:solidFill>
                  <a:srgbClr val="FF7B72"/>
                </a:solidFill>
                <a:latin typeface="Consolas"/>
              </a:rPr>
              <a:t>if</a:t>
            </a:r>
            <a:r>
              <a:rPr sz="1400">
                <a:solidFill>
                  <a:srgbClr val="E6E6E6"/>
                </a:solidFill>
                <a:latin typeface="Consolas"/>
              </a:rPr>
              <a:t> weight &lt; MIN_WEIGHT:</a:t>
            </a:r>
          </a:p>
          <a:p>
            <a:pPr>
              <a:spcAft>
                <a:spcPts val="0"/>
              </a:spcAft>
            </a:pPr>
            <a:r>
              <a:rPr sz="1400">
                <a:solidFill>
                  <a:srgbClr val="E6E6E6"/>
                </a:solidFill>
                <a:latin typeface="Consolas"/>
              </a:rPr>
              <a:t>        reasons.append(</a:t>
            </a:r>
            <a:r>
              <a:rPr sz="1400">
                <a:solidFill>
                  <a:srgbClr val="A5D68A"/>
                </a:solidFill>
                <a:latin typeface="Consolas"/>
              </a:rPr>
              <a:t>"Weight must be at least 50 kg"</a:t>
            </a:r>
            <a:r>
              <a:rPr sz="1400">
                <a:solidFill>
                  <a:srgbClr val="E6E6E6"/>
                </a:solidFill>
                <a:latin typeface="Consolas"/>
              </a:rPr>
              <a:t>)</a:t>
            </a:r>
          </a:p>
          <a:p>
            <a:pPr>
              <a:spcAft>
                <a:spcPts val="0"/>
              </a:spcAft>
            </a:pPr>
            <a:r>
              <a:rPr sz="1400">
                <a:solidFill>
                  <a:srgbClr val="E6E6E6"/>
                </a:solidFill>
                <a:latin typeface="Consolas"/>
              </a:rPr>
              <a:t>    </a:t>
            </a:r>
            <a:r>
              <a:rPr sz="1400">
                <a:solidFill>
                  <a:srgbClr val="FF7B72"/>
                </a:solidFill>
                <a:latin typeface="Consolas"/>
              </a:rPr>
              <a:t>if</a:t>
            </a:r>
            <a:r>
              <a:rPr sz="1400">
                <a:solidFill>
                  <a:srgbClr val="E6E6E6"/>
                </a:solidFill>
                <a:latin typeface="Consolas"/>
              </a:rPr>
              <a:t> haemoglobin is </a:t>
            </a:r>
            <a:r>
              <a:rPr sz="1400">
                <a:solidFill>
                  <a:srgbClr val="FF7B72"/>
                </a:solidFill>
                <a:latin typeface="Consolas"/>
              </a:rPr>
              <a:t>not</a:t>
            </a:r>
            <a:r>
              <a:rPr sz="1400">
                <a:solidFill>
                  <a:srgbClr val="E6E6E6"/>
                </a:solidFill>
                <a:latin typeface="Consolas"/>
              </a:rPr>
              <a:t> </a:t>
            </a:r>
            <a:r>
              <a:rPr sz="1400">
                <a:solidFill>
                  <a:srgbClr val="FF7B72"/>
                </a:solidFill>
                <a:latin typeface="Consolas"/>
              </a:rPr>
              <a:t>None</a:t>
            </a:r>
            <a:r>
              <a:rPr sz="1400">
                <a:solidFill>
                  <a:srgbClr val="E6E6E6"/>
                </a:solidFill>
                <a:latin typeface="Consolas"/>
              </a:rPr>
              <a:t> </a:t>
            </a:r>
            <a:r>
              <a:rPr sz="1400">
                <a:solidFill>
                  <a:srgbClr val="FF7B72"/>
                </a:solidFill>
                <a:latin typeface="Consolas"/>
              </a:rPr>
              <a:t>and</a:t>
            </a:r>
            <a:r>
              <a:rPr sz="1400">
                <a:solidFill>
                  <a:srgbClr val="E6E6E6"/>
                </a:solidFill>
                <a:latin typeface="Consolas"/>
              </a:rPr>
              <a:t> haemoglobin &lt; </a:t>
            </a:r>
            <a:r>
              <a:rPr sz="1400">
                <a:solidFill>
                  <a:srgbClr val="F2B16A"/>
                </a:solidFill>
                <a:latin typeface="Consolas"/>
              </a:rPr>
              <a:t>12</a:t>
            </a:r>
            <a:r>
              <a:rPr sz="1400">
                <a:solidFill>
                  <a:srgbClr val="E6E6E6"/>
                </a:solidFill>
                <a:latin typeface="Consolas"/>
              </a:rPr>
              <a:t>.</a:t>
            </a:r>
            <a:r>
              <a:rPr sz="1400">
                <a:solidFill>
                  <a:srgbClr val="F2B16A"/>
                </a:solidFill>
                <a:latin typeface="Consolas"/>
              </a:rPr>
              <a:t>5</a:t>
            </a:r>
            <a:r>
              <a:rPr sz="1400">
                <a:solidFill>
                  <a:srgbClr val="E6E6E6"/>
                </a:solidFill>
                <a:latin typeface="Consolas"/>
              </a:rPr>
              <a:t>:</a:t>
            </a:r>
          </a:p>
          <a:p>
            <a:pPr>
              <a:spcAft>
                <a:spcPts val="0"/>
              </a:spcAft>
            </a:pPr>
            <a:r>
              <a:rPr sz="1400">
                <a:solidFill>
                  <a:srgbClr val="E6E6E6"/>
                </a:solidFill>
                <a:latin typeface="Consolas"/>
              </a:rPr>
              <a:t>        reasons.append(</a:t>
            </a:r>
            <a:r>
              <a:rPr sz="1400">
                <a:solidFill>
                  <a:srgbClr val="A5D68A"/>
                </a:solidFill>
                <a:latin typeface="Consolas"/>
              </a:rPr>
              <a:t>"Haemoglobin must be at least 12.5"</a:t>
            </a:r>
            <a:r>
              <a:rPr sz="1400">
                <a:solidFill>
                  <a:srgbClr val="E6E6E6"/>
                </a:solidFill>
                <a:latin typeface="Consolas"/>
              </a:rPr>
              <a:t>)</a:t>
            </a:r>
          </a:p>
          <a:p>
            <a:pPr>
              <a:spcAft>
                <a:spcPts val="0"/>
              </a:spcAft>
            </a:pPr>
            <a:r>
              <a:rPr sz="1400">
                <a:solidFill>
                  <a:srgbClr val="E6E6E6"/>
                </a:solidFill>
                <a:latin typeface="Consolas"/>
              </a:rPr>
              <a:t>    </a:t>
            </a:r>
            <a:r>
              <a:rPr sz="1400">
                <a:solidFill>
                  <a:srgbClr val="FF7B72"/>
                </a:solidFill>
                <a:latin typeface="Consolas"/>
              </a:rPr>
              <a:t>if</a:t>
            </a:r>
            <a:r>
              <a:rPr sz="1400">
                <a:solidFill>
                  <a:srgbClr val="E6E6E6"/>
                </a:solidFill>
                <a:latin typeface="Consolas"/>
              </a:rPr>
              <a:t> last_donation_date:</a:t>
            </a:r>
          </a:p>
          <a:p>
            <a:pPr>
              <a:spcAft>
                <a:spcPts val="0"/>
              </a:spcAft>
            </a:pPr>
            <a:r>
              <a:rPr sz="1400">
                <a:solidFill>
                  <a:srgbClr val="E6E6E6"/>
                </a:solidFill>
                <a:latin typeface="Consolas"/>
              </a:rPr>
              <a:t>        next_date = date.fromisoformat(last_donation_date) \</a:t>
            </a:r>
          </a:p>
          <a:p>
            <a:pPr>
              <a:spcAft>
                <a:spcPts val="0"/>
              </a:spcAft>
            </a:pPr>
            <a:r>
              <a:rPr sz="1400">
                <a:solidFill>
                  <a:srgbClr val="E6E6E6"/>
                </a:solidFill>
                <a:latin typeface="Consolas"/>
              </a:rPr>
              <a:t>                    + timedelta(days=gap_days(gender))</a:t>
            </a:r>
          </a:p>
          <a:p>
            <a:pPr>
              <a:spcAft>
                <a:spcPts val="0"/>
              </a:spcAft>
            </a:pPr>
            <a:r>
              <a:rPr sz="1400">
                <a:solidFill>
                  <a:srgbClr val="E6E6E6"/>
                </a:solidFill>
                <a:latin typeface="Consolas"/>
              </a:rPr>
              <a:t>        </a:t>
            </a:r>
            <a:r>
              <a:rPr sz="1400">
                <a:solidFill>
                  <a:srgbClr val="FF7B72"/>
                </a:solidFill>
                <a:latin typeface="Consolas"/>
              </a:rPr>
              <a:t>if</a:t>
            </a:r>
            <a:r>
              <a:rPr sz="1400">
                <a:solidFill>
                  <a:srgbClr val="E6E6E6"/>
                </a:solidFill>
                <a:latin typeface="Consolas"/>
              </a:rPr>
              <a:t> next_date &gt; date.today():</a:t>
            </a:r>
          </a:p>
          <a:p>
            <a:pPr>
              <a:spcAft>
                <a:spcPts val="0"/>
              </a:spcAft>
            </a:pPr>
            <a:r>
              <a:rPr sz="1400">
                <a:solidFill>
                  <a:srgbClr val="E6E6E6"/>
                </a:solidFill>
                <a:latin typeface="Consolas"/>
              </a:rPr>
              <a:t>            reasons.append(f</a:t>
            </a:r>
            <a:r>
              <a:rPr sz="1400">
                <a:solidFill>
                  <a:srgbClr val="A5D68A"/>
                </a:solidFill>
                <a:latin typeface="Consolas"/>
              </a:rPr>
              <a:t>"Next possible date is {next_date}"</a:t>
            </a:r>
            <a:r>
              <a:rPr sz="1400">
                <a:solidFill>
                  <a:srgbClr val="E6E6E6"/>
                </a:solidFill>
                <a:latin typeface="Consolas"/>
              </a:rPr>
              <a:t>)</a:t>
            </a:r>
          </a:p>
          <a:p>
            <a:pPr>
              <a:spcAft>
                <a:spcPts val="0"/>
              </a:spcAft>
            </a:pPr>
            <a:r>
              <a:rPr sz="1400">
                <a:solidFill>
                  <a:srgbClr val="E6E6E6"/>
                </a:solidFill>
                <a:latin typeface="Consolas"/>
              </a:rPr>
              <a:t>    </a:t>
            </a:r>
            <a:r>
              <a:rPr sz="1400">
                <a:solidFill>
                  <a:srgbClr val="FF7B72"/>
                </a:solidFill>
                <a:latin typeface="Consolas"/>
              </a:rPr>
              <a:t>return</a:t>
            </a:r>
            <a:r>
              <a:rPr sz="1400">
                <a:solidFill>
                  <a:srgbClr val="E6E6E6"/>
                </a:solidFill>
                <a:latin typeface="Consolas"/>
              </a:rPr>
              <a:t> {</a:t>
            </a:r>
            <a:r>
              <a:rPr sz="1400">
                <a:solidFill>
                  <a:srgbClr val="A5D68A"/>
                </a:solidFill>
                <a:latin typeface="Consolas"/>
              </a:rPr>
              <a:t>"eligible"</a:t>
            </a:r>
            <a:r>
              <a:rPr sz="1400">
                <a:solidFill>
                  <a:srgbClr val="E6E6E6"/>
                </a:solidFill>
                <a:latin typeface="Consolas"/>
              </a:rPr>
              <a:t>: </a:t>
            </a:r>
            <a:r>
              <a:rPr sz="1400">
                <a:solidFill>
                  <a:srgbClr val="FF7B72"/>
                </a:solidFill>
                <a:latin typeface="Consolas"/>
              </a:rPr>
              <a:t>not</a:t>
            </a:r>
            <a:r>
              <a:rPr sz="1400">
                <a:solidFill>
                  <a:srgbClr val="E6E6E6"/>
                </a:solidFill>
                <a:latin typeface="Consolas"/>
              </a:rPr>
              <a:t> reasons, </a:t>
            </a:r>
            <a:r>
              <a:rPr sz="1400">
                <a:solidFill>
                  <a:srgbClr val="A5D68A"/>
                </a:solidFill>
                <a:latin typeface="Consolas"/>
              </a:rPr>
              <a:t>"reasons"</a:t>
            </a:r>
            <a:r>
              <a:rPr sz="1400">
                <a:solidFill>
                  <a:srgbClr val="E6E6E6"/>
                </a:solidFill>
                <a:latin typeface="Consolas"/>
              </a:rPr>
              <a:t>: reasons}</a:t>
            </a:r>
          </a:p>
        </p:txBody>
      </p:sp>
      <p:sp>
        <p:nvSpPr>
          <p:cNvPr id="8" name="TextBox 7"/>
          <p:cNvSpPr txBox="1"/>
          <p:nvPr/>
        </p:nvSpPr>
        <p:spPr>
          <a:xfrm>
            <a:off x="8595360" y="2011680"/>
            <a:ext cx="3017520" cy="3657600"/>
          </a:xfrm>
          <a:prstGeom prst="rect">
            <a:avLst/>
          </a:prstGeom>
          <a:noFill/>
        </p:spPr>
        <p:txBody>
          <a:bodyPr wrap="square" lIns="0" rIns="0" tIns="0" bIns="0">
            <a:spAutoFit/>
          </a:bodyPr>
          <a:lstStyle/>
          <a:p>
            <a:pPr marL="256032" indent="-256032">
              <a:spcAft>
                <a:spcPts val="1200"/>
              </a:spcAft>
              <a:buClr>
                <a:srgbClr val="C62828"/>
              </a:buClr>
              <a:buChar char="•"/>
            </a:pPr>
            <a:r>
              <a:rPr sz="1600">
                <a:solidFill>
                  <a:srgbClr val="1F2933"/>
                </a:solidFill>
                <a:latin typeface="Calibri"/>
              </a:rPr>
              <a:t>Returns a clear yes or no, plus the reasons</a:t>
            </a:r>
          </a:p>
          <a:p>
            <a:pPr marL="256032" indent="-256032">
              <a:spcAft>
                <a:spcPts val="1200"/>
              </a:spcAft>
              <a:buClr>
                <a:srgbClr val="C62828"/>
              </a:buClr>
              <a:buChar char="•"/>
            </a:pPr>
            <a:r>
              <a:rPr sz="1600">
                <a:solidFill>
                  <a:srgbClr val="1F2933"/>
                </a:solidFill>
                <a:latin typeface="Calibri"/>
              </a:rPr>
              <a:t>Used for the donor dashboard, camp booking and donor search</a:t>
            </a:r>
          </a:p>
          <a:p>
            <a:pPr marL="256032" indent="-256032">
              <a:spcAft>
                <a:spcPts val="1200"/>
              </a:spcAft>
              <a:buClr>
                <a:srgbClr val="C62828"/>
              </a:buClr>
              <a:buChar char="•"/>
            </a:pPr>
            <a:r>
              <a:rPr sz="1600">
                <a:solidFill>
                  <a:srgbClr val="1F2933"/>
                </a:solidFill>
                <a:latin typeface="Calibri"/>
              </a:rPr>
              <a:t>gap_days() gives 90 days for men and 120 days for women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BACKEND CODE  |  ROUTERS/REQUESTS.PY</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Code sample 2: issuing blood picks the oldest units first</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13</a:t>
            </a:r>
          </a:p>
        </p:txBody>
      </p:sp>
      <p:sp>
        <p:nvSpPr>
          <p:cNvPr id="6" name="Rounded Rectangle 5"/>
          <p:cNvSpPr/>
          <p:nvPr/>
        </p:nvSpPr>
        <p:spPr>
          <a:xfrm>
            <a:off x="640080" y="1783080"/>
            <a:ext cx="7680960" cy="4206240"/>
          </a:xfrm>
          <a:prstGeom prst="roundRect">
            <a:avLst>
              <a:gd name="adj" fmla="val 3000"/>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65960"/>
            <a:ext cx="7223760" cy="3840479"/>
          </a:xfrm>
          <a:prstGeom prst="rect">
            <a:avLst/>
          </a:prstGeom>
          <a:noFill/>
        </p:spPr>
        <p:txBody>
          <a:bodyPr wrap="none" lIns="0" rIns="0" tIns="0" bIns="0">
            <a:spAutoFit/>
          </a:bodyPr>
          <a:lstStyle/>
          <a:p>
            <a:pPr>
              <a:spcAft>
                <a:spcPts val="0"/>
              </a:spcAft>
            </a:pPr>
            <a:r>
              <a:rPr sz="1500">
                <a:solidFill>
                  <a:srgbClr val="FF7B72"/>
                </a:solidFill>
                <a:latin typeface="Consolas"/>
              </a:rPr>
              <a:t>for</a:t>
            </a:r>
            <a:r>
              <a:rPr sz="1500">
                <a:solidFill>
                  <a:srgbClr val="E6E6E6"/>
                </a:solidFill>
                <a:latin typeface="Consolas"/>
              </a:rPr>
              <a:t> group </a:t>
            </a:r>
            <a:r>
              <a:rPr sz="1500">
                <a:solidFill>
                  <a:srgbClr val="FF7B72"/>
                </a:solidFill>
                <a:latin typeface="Consolas"/>
              </a:rPr>
              <a:t>in</a:t>
            </a:r>
            <a:r>
              <a:rPr sz="1500">
                <a:solidFill>
                  <a:srgbClr val="E6E6E6"/>
                </a:solidFill>
                <a:latin typeface="Consolas"/>
              </a:rPr>
              <a:t> groups:                 </a:t>
            </a:r>
            <a:r>
              <a:rPr sz="1500">
                <a:solidFill>
                  <a:srgbClr val="8B949E"/>
                </a:solidFill>
                <a:latin typeface="Consolas"/>
              </a:rPr>
              <a:t># exact group first</a:t>
            </a:r>
          </a:p>
          <a:p>
            <a:pPr>
              <a:spcAft>
                <a:spcPts val="0"/>
              </a:spcAft>
            </a:pPr>
            <a:r>
              <a:rPr sz="1500">
                <a:solidFill>
                  <a:srgbClr val="E6E6E6"/>
                </a:solidFill>
                <a:latin typeface="Consolas"/>
              </a:rPr>
              <a:t>    need = req[</a:t>
            </a:r>
            <a:r>
              <a:rPr sz="1500">
                <a:solidFill>
                  <a:srgbClr val="A5D68A"/>
                </a:solidFill>
                <a:latin typeface="Consolas"/>
              </a:rPr>
              <a:t>"units"</a:t>
            </a:r>
            <a:r>
              <a:rPr sz="1500">
                <a:solidFill>
                  <a:srgbClr val="E6E6E6"/>
                </a:solidFill>
                <a:latin typeface="Consolas"/>
              </a:rPr>
              <a:t>] - len(picked)</a:t>
            </a:r>
          </a:p>
          <a:p>
            <a:pPr>
              <a:spcAft>
                <a:spcPts val="0"/>
              </a:spcAft>
            </a:pPr>
            <a:r>
              <a:rPr sz="1500">
                <a:solidFill>
                  <a:srgbClr val="E6E6E6"/>
                </a:solidFill>
                <a:latin typeface="Consolas"/>
              </a:rPr>
              <a:t>    </a:t>
            </a:r>
            <a:r>
              <a:rPr sz="1500">
                <a:solidFill>
                  <a:srgbClr val="FF7B72"/>
                </a:solidFill>
                <a:latin typeface="Consolas"/>
              </a:rPr>
              <a:t>if</a:t>
            </a:r>
            <a:r>
              <a:rPr sz="1500">
                <a:solidFill>
                  <a:srgbClr val="E6E6E6"/>
                </a:solidFill>
                <a:latin typeface="Consolas"/>
              </a:rPr>
              <a:t> need &lt;= </a:t>
            </a:r>
            <a:r>
              <a:rPr sz="1500">
                <a:solidFill>
                  <a:srgbClr val="F2B16A"/>
                </a:solidFill>
                <a:latin typeface="Consolas"/>
              </a:rPr>
              <a:t>0</a:t>
            </a:r>
            <a:r>
              <a:rPr sz="1500">
                <a:solidFill>
                  <a:srgbClr val="E6E6E6"/>
                </a:solidFill>
                <a:latin typeface="Consolas"/>
              </a:rPr>
              <a:t>:</a:t>
            </a:r>
          </a:p>
          <a:p>
            <a:pPr>
              <a:spcAft>
                <a:spcPts val="0"/>
              </a:spcAft>
            </a:pPr>
            <a:r>
              <a:rPr sz="1500">
                <a:solidFill>
                  <a:srgbClr val="E6E6E6"/>
                </a:solidFill>
                <a:latin typeface="Consolas"/>
              </a:rPr>
              <a:t>        break</a:t>
            </a:r>
          </a:p>
          <a:p>
            <a:pPr>
              <a:spcAft>
                <a:spcPts val="0"/>
              </a:spcAft>
            </a:pPr>
            <a:r>
              <a:rPr sz="1500">
                <a:solidFill>
                  <a:srgbClr val="E6E6E6"/>
                </a:solidFill>
                <a:latin typeface="Consolas"/>
              </a:rPr>
              <a:t>    rows = db.execute(</a:t>
            </a:r>
          </a:p>
          <a:p>
            <a:pPr>
              <a:spcAft>
                <a:spcPts val="0"/>
              </a:spcAft>
            </a:pPr>
            <a:r>
              <a:rPr sz="1500">
                <a:solidFill>
                  <a:srgbClr val="E6E6E6"/>
                </a:solidFill>
                <a:latin typeface="Consolas"/>
              </a:rPr>
              <a:t>        </a:t>
            </a:r>
            <a:r>
              <a:rPr sz="1500">
                <a:solidFill>
                  <a:srgbClr val="A5D68A"/>
                </a:solidFill>
                <a:latin typeface="Consolas"/>
              </a:rPr>
              <a:t>"SELECT id FROM blood_units "</a:t>
            </a:r>
          </a:p>
          <a:p>
            <a:pPr>
              <a:spcAft>
                <a:spcPts val="0"/>
              </a:spcAft>
            </a:pPr>
            <a:r>
              <a:rPr sz="1500">
                <a:solidFill>
                  <a:srgbClr val="E6E6E6"/>
                </a:solidFill>
                <a:latin typeface="Consolas"/>
              </a:rPr>
              <a:t>        </a:t>
            </a:r>
            <a:r>
              <a:rPr sz="1500">
                <a:solidFill>
                  <a:srgbClr val="A5D68A"/>
                </a:solidFill>
                <a:latin typeface="Consolas"/>
              </a:rPr>
              <a:t>"WHERE blood_group = ? AND status = 'available' "</a:t>
            </a:r>
          </a:p>
          <a:p>
            <a:pPr>
              <a:spcAft>
                <a:spcPts val="0"/>
              </a:spcAft>
            </a:pPr>
            <a:r>
              <a:rPr sz="1500">
                <a:solidFill>
                  <a:srgbClr val="E6E6E6"/>
                </a:solidFill>
                <a:latin typeface="Consolas"/>
              </a:rPr>
              <a:t>        </a:t>
            </a:r>
            <a:r>
              <a:rPr sz="1500">
                <a:solidFill>
                  <a:srgbClr val="A5D68A"/>
                </a:solidFill>
                <a:latin typeface="Consolas"/>
              </a:rPr>
              <a:t>"AND expiry_date &gt;= ? "</a:t>
            </a:r>
          </a:p>
          <a:p>
            <a:pPr>
              <a:spcAft>
                <a:spcPts val="0"/>
              </a:spcAft>
            </a:pPr>
            <a:r>
              <a:rPr sz="1500">
                <a:solidFill>
                  <a:srgbClr val="E6E6E6"/>
                </a:solidFill>
                <a:latin typeface="Consolas"/>
              </a:rPr>
              <a:t>        </a:t>
            </a:r>
            <a:r>
              <a:rPr sz="1500">
                <a:solidFill>
                  <a:srgbClr val="A5D68A"/>
                </a:solidFill>
                <a:latin typeface="Consolas"/>
              </a:rPr>
              <a:t>"ORDER BY expiry_date LIMIT ?"</a:t>
            </a:r>
            <a:r>
              <a:rPr sz="1500">
                <a:solidFill>
                  <a:srgbClr val="E6E6E6"/>
                </a:solidFill>
                <a:latin typeface="Consolas"/>
              </a:rPr>
              <a:t>,   </a:t>
            </a:r>
            <a:r>
              <a:rPr sz="1500">
                <a:solidFill>
                  <a:srgbClr val="8B949E"/>
                </a:solidFill>
                <a:latin typeface="Consolas"/>
              </a:rPr>
              <a:t># oldest first</a:t>
            </a:r>
          </a:p>
          <a:p>
            <a:pPr>
              <a:spcAft>
                <a:spcPts val="0"/>
              </a:spcAft>
            </a:pPr>
            <a:r>
              <a:rPr sz="1500">
                <a:solidFill>
                  <a:srgbClr val="E6E6E6"/>
                </a:solidFill>
                <a:latin typeface="Consolas"/>
              </a:rPr>
              <a:t>        (group, today, need)).fetchall()</a:t>
            </a:r>
          </a:p>
          <a:p>
            <a:pPr>
              <a:spcAft>
                <a:spcPts val="0"/>
              </a:spcAft>
            </a:pPr>
            <a:r>
              <a:rPr sz="1500">
                <a:solidFill>
                  <a:srgbClr val="E6E6E6"/>
                </a:solidFill>
                <a:latin typeface="Consolas"/>
              </a:rPr>
              <a:t>    picked += [r[</a:t>
            </a:r>
            <a:r>
              <a:rPr sz="1500">
                <a:solidFill>
                  <a:srgbClr val="A5D68A"/>
                </a:solidFill>
                <a:latin typeface="Consolas"/>
              </a:rPr>
              <a:t>"id"</a:t>
            </a:r>
            <a:r>
              <a:rPr sz="1500">
                <a:solidFill>
                  <a:srgbClr val="E6E6E6"/>
                </a:solidFill>
                <a:latin typeface="Consolas"/>
              </a:rPr>
              <a:t>] </a:t>
            </a:r>
            <a:r>
              <a:rPr sz="1500">
                <a:solidFill>
                  <a:srgbClr val="FF7B72"/>
                </a:solidFill>
                <a:latin typeface="Consolas"/>
              </a:rPr>
              <a:t>for</a:t>
            </a:r>
            <a:r>
              <a:rPr sz="1500">
                <a:solidFill>
                  <a:srgbClr val="E6E6E6"/>
                </a:solidFill>
                <a:latin typeface="Consolas"/>
              </a:rPr>
              <a:t> r </a:t>
            </a:r>
            <a:r>
              <a:rPr sz="1500">
                <a:solidFill>
                  <a:srgbClr val="FF7B72"/>
                </a:solidFill>
                <a:latin typeface="Consolas"/>
              </a:rPr>
              <a:t>in</a:t>
            </a:r>
            <a:r>
              <a:rPr sz="1500">
                <a:solidFill>
                  <a:srgbClr val="E6E6E6"/>
                </a:solidFill>
                <a:latin typeface="Consolas"/>
              </a:rPr>
              <a:t> rows]</a:t>
            </a:r>
          </a:p>
          <a:p>
            <a:pPr>
              <a:spcAft>
                <a:spcPts val="0"/>
              </a:spcAft>
            </a:pPr>
            <a:r>
              <a:rPr sz="1500">
                <a:solidFill>
                  <a:srgbClr val="E6E6E6"/>
                </a:solidFill>
                <a:latin typeface="Consolas"/>
              </a:rPr>
              <a:t> </a:t>
            </a:r>
          </a:p>
          <a:p>
            <a:pPr>
              <a:spcAft>
                <a:spcPts val="0"/>
              </a:spcAft>
            </a:pPr>
            <a:r>
              <a:rPr sz="1500">
                <a:solidFill>
                  <a:srgbClr val="FF7B72"/>
                </a:solidFill>
                <a:latin typeface="Consolas"/>
              </a:rPr>
              <a:t>if</a:t>
            </a:r>
            <a:r>
              <a:rPr sz="1500">
                <a:solidFill>
                  <a:srgbClr val="E6E6E6"/>
                </a:solidFill>
                <a:latin typeface="Consolas"/>
              </a:rPr>
              <a:t> len(picked) &lt; req[</a:t>
            </a:r>
            <a:r>
              <a:rPr sz="1500">
                <a:solidFill>
                  <a:srgbClr val="A5D68A"/>
                </a:solidFill>
                <a:latin typeface="Consolas"/>
              </a:rPr>
              <a:t>"units"</a:t>
            </a:r>
            <a:r>
              <a:rPr sz="1500">
                <a:solidFill>
                  <a:srgbClr val="E6E6E6"/>
                </a:solidFill>
                <a:latin typeface="Consolas"/>
              </a:rPr>
              <a:t>]:</a:t>
            </a:r>
          </a:p>
          <a:p>
            <a:pPr>
              <a:spcAft>
                <a:spcPts val="0"/>
              </a:spcAft>
            </a:pPr>
            <a:r>
              <a:rPr sz="1500">
                <a:solidFill>
                  <a:srgbClr val="E6E6E6"/>
                </a:solidFill>
                <a:latin typeface="Consolas"/>
              </a:rPr>
              <a:t>    </a:t>
            </a:r>
            <a:r>
              <a:rPr sz="1500">
                <a:solidFill>
                  <a:srgbClr val="FF7B72"/>
                </a:solidFill>
                <a:latin typeface="Consolas"/>
              </a:rPr>
              <a:t>raise</a:t>
            </a:r>
            <a:r>
              <a:rPr sz="1500">
                <a:solidFill>
                  <a:srgbClr val="E6E6E6"/>
                </a:solidFill>
                <a:latin typeface="Consolas"/>
              </a:rPr>
              <a:t> HTTPException(</a:t>
            </a:r>
            <a:r>
              <a:rPr sz="1500">
                <a:solidFill>
                  <a:srgbClr val="F2B16A"/>
                </a:solidFill>
                <a:latin typeface="Consolas"/>
              </a:rPr>
              <a:t>400</a:t>
            </a:r>
            <a:r>
              <a:rPr sz="1500">
                <a:solidFill>
                  <a:srgbClr val="E6E6E6"/>
                </a:solidFill>
                <a:latin typeface="Consolas"/>
              </a:rPr>
              <a:t>, </a:t>
            </a:r>
            <a:r>
              <a:rPr sz="1500">
                <a:solidFill>
                  <a:srgbClr val="A5D68A"/>
                </a:solidFill>
                <a:latin typeface="Consolas"/>
              </a:rPr>
              <a:t>"Not enough suitable units"</a:t>
            </a:r>
            <a:r>
              <a:rPr sz="1500">
                <a:solidFill>
                  <a:srgbClr val="E6E6E6"/>
                </a:solidFill>
                <a:latin typeface="Consolas"/>
              </a:rPr>
              <a:t>)</a:t>
            </a:r>
          </a:p>
        </p:txBody>
      </p:sp>
      <p:sp>
        <p:nvSpPr>
          <p:cNvPr id="8" name="TextBox 7"/>
          <p:cNvSpPr txBox="1"/>
          <p:nvPr/>
        </p:nvSpPr>
        <p:spPr>
          <a:xfrm>
            <a:off x="8595360" y="2011680"/>
            <a:ext cx="3017520" cy="3657600"/>
          </a:xfrm>
          <a:prstGeom prst="rect">
            <a:avLst/>
          </a:prstGeom>
          <a:noFill/>
        </p:spPr>
        <p:txBody>
          <a:bodyPr wrap="square" lIns="0" rIns="0" tIns="0" bIns="0">
            <a:spAutoFit/>
          </a:bodyPr>
          <a:lstStyle/>
          <a:p>
            <a:pPr marL="256032" indent="-256032">
              <a:spcAft>
                <a:spcPts val="1200"/>
              </a:spcAft>
              <a:buClr>
                <a:srgbClr val="C62828"/>
              </a:buClr>
              <a:buChar char="•"/>
            </a:pPr>
            <a:r>
              <a:rPr sz="1600">
                <a:solidFill>
                  <a:srgbClr val="1F2933"/>
                </a:solidFill>
                <a:latin typeface="Calibri"/>
              </a:rPr>
              <a:t>ORDER BY expiry_date gives FIFO</a:t>
            </a:r>
          </a:p>
          <a:p>
            <a:pPr marL="256032" indent="-256032">
              <a:spcAft>
                <a:spcPts val="1200"/>
              </a:spcAft>
              <a:buClr>
                <a:srgbClr val="C62828"/>
              </a:buClr>
              <a:buChar char="•"/>
            </a:pPr>
            <a:r>
              <a:rPr sz="1600">
                <a:solidFill>
                  <a:srgbClr val="1F2933"/>
                </a:solidFill>
                <a:latin typeface="Calibri"/>
              </a:rPr>
              <a:t>Values go in as ? parameters, which prevents SQL injection</a:t>
            </a:r>
          </a:p>
          <a:p>
            <a:pPr marL="256032" indent="-256032">
              <a:spcAft>
                <a:spcPts val="1200"/>
              </a:spcAft>
              <a:buClr>
                <a:srgbClr val="C62828"/>
              </a:buClr>
              <a:buChar char="•"/>
            </a:pPr>
            <a:r>
              <a:rPr sz="1600">
                <a:solidFill>
                  <a:srgbClr val="1F2933"/>
                </a:solidFill>
                <a:latin typeface="Calibri"/>
              </a:rPr>
              <a:t>The request is only fulfilled if all needed units are found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SECURITY AND FRONTEND  |  SECURITY.PY AND API.JS</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Code sample 3: the server checks the role, the browser only asks</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14</a:t>
            </a:r>
          </a:p>
        </p:txBody>
      </p:sp>
      <p:sp>
        <p:nvSpPr>
          <p:cNvPr id="6" name="TextBox 5"/>
          <p:cNvSpPr txBox="1"/>
          <p:nvPr/>
        </p:nvSpPr>
        <p:spPr>
          <a:xfrm>
            <a:off x="640080" y="1691640"/>
            <a:ext cx="5486400" cy="274320"/>
          </a:xfrm>
          <a:prstGeom prst="rect">
            <a:avLst/>
          </a:prstGeom>
          <a:noFill/>
        </p:spPr>
        <p:txBody>
          <a:bodyPr wrap="square" lIns="0" rIns="0" tIns="0" bIns="0" anchor="t">
            <a:spAutoFit/>
          </a:bodyPr>
          <a:lstStyle/>
          <a:p>
            <a:pPr algn="l"/>
            <a:r>
              <a:rPr sz="1400" b="1" i="0">
                <a:solidFill>
                  <a:srgbClr val="C62828"/>
                </a:solidFill>
                <a:latin typeface="Calibri"/>
              </a:rPr>
              <a:t>Backend: protect an endpoint</a:t>
            </a:r>
          </a:p>
        </p:txBody>
      </p:sp>
      <p:sp>
        <p:nvSpPr>
          <p:cNvPr id="7" name="Rounded Rectangle 6"/>
          <p:cNvSpPr/>
          <p:nvPr/>
        </p:nvSpPr>
        <p:spPr>
          <a:xfrm>
            <a:off x="640080" y="2011680"/>
            <a:ext cx="5394960" cy="3383280"/>
          </a:xfrm>
          <a:prstGeom prst="roundRect">
            <a:avLst>
              <a:gd name="adj" fmla="val 3000"/>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2194560"/>
            <a:ext cx="4937760" cy="3017520"/>
          </a:xfrm>
          <a:prstGeom prst="rect">
            <a:avLst/>
          </a:prstGeom>
          <a:noFill/>
        </p:spPr>
        <p:txBody>
          <a:bodyPr wrap="none" lIns="0" rIns="0" tIns="0" bIns="0">
            <a:spAutoFit/>
          </a:bodyPr>
          <a:lstStyle/>
          <a:p>
            <a:pPr>
              <a:spcAft>
                <a:spcPts val="0"/>
              </a:spcAft>
            </a:pPr>
            <a:r>
              <a:rPr sz="1400">
                <a:solidFill>
                  <a:srgbClr val="FF7B72"/>
                </a:solidFill>
                <a:latin typeface="Consolas"/>
              </a:rPr>
              <a:t>def</a:t>
            </a:r>
            <a:r>
              <a:rPr sz="1400">
                <a:solidFill>
                  <a:srgbClr val="E6E6E6"/>
                </a:solidFill>
                <a:latin typeface="Consolas"/>
              </a:rPr>
              <a:t> require_role(*roles):</a:t>
            </a:r>
          </a:p>
          <a:p>
            <a:pPr>
              <a:spcAft>
                <a:spcPts val="0"/>
              </a:spcAft>
            </a:pPr>
            <a:r>
              <a:rPr sz="1400">
                <a:solidFill>
                  <a:srgbClr val="E6E6E6"/>
                </a:solidFill>
                <a:latin typeface="Consolas"/>
              </a:rPr>
              <a:t>    </a:t>
            </a:r>
            <a:r>
              <a:rPr sz="1400">
                <a:solidFill>
                  <a:srgbClr val="FF7B72"/>
                </a:solidFill>
                <a:latin typeface="Consolas"/>
              </a:rPr>
              <a:t>def</a:t>
            </a:r>
            <a:r>
              <a:rPr sz="1400">
                <a:solidFill>
                  <a:srgbClr val="E6E6E6"/>
                </a:solidFill>
                <a:latin typeface="Consolas"/>
              </a:rPr>
              <a:t> checker(user=Depends(current_user)):</a:t>
            </a:r>
          </a:p>
          <a:p>
            <a:pPr>
              <a:spcAft>
                <a:spcPts val="0"/>
              </a:spcAft>
            </a:pPr>
            <a:r>
              <a:rPr sz="1400">
                <a:solidFill>
                  <a:srgbClr val="E6E6E6"/>
                </a:solidFill>
                <a:latin typeface="Consolas"/>
              </a:rPr>
              <a:t>        </a:t>
            </a:r>
            <a:r>
              <a:rPr sz="1400">
                <a:solidFill>
                  <a:srgbClr val="FF7B72"/>
                </a:solidFill>
                <a:latin typeface="Consolas"/>
              </a:rPr>
              <a:t>if</a:t>
            </a:r>
            <a:r>
              <a:rPr sz="1400">
                <a:solidFill>
                  <a:srgbClr val="E6E6E6"/>
                </a:solidFill>
                <a:latin typeface="Consolas"/>
              </a:rPr>
              <a:t> user[</a:t>
            </a:r>
            <a:r>
              <a:rPr sz="1400">
                <a:solidFill>
                  <a:srgbClr val="A5D68A"/>
                </a:solidFill>
                <a:latin typeface="Consolas"/>
              </a:rPr>
              <a:t>"role"</a:t>
            </a:r>
            <a:r>
              <a:rPr sz="1400">
                <a:solidFill>
                  <a:srgbClr val="E6E6E6"/>
                </a:solidFill>
                <a:latin typeface="Consolas"/>
              </a:rPr>
              <a:t>] </a:t>
            </a:r>
            <a:r>
              <a:rPr sz="1400">
                <a:solidFill>
                  <a:srgbClr val="FF7B72"/>
                </a:solidFill>
                <a:latin typeface="Consolas"/>
              </a:rPr>
              <a:t>not</a:t>
            </a:r>
            <a:r>
              <a:rPr sz="1400">
                <a:solidFill>
                  <a:srgbClr val="E6E6E6"/>
                </a:solidFill>
                <a:latin typeface="Consolas"/>
              </a:rPr>
              <a:t> </a:t>
            </a:r>
            <a:r>
              <a:rPr sz="1400">
                <a:solidFill>
                  <a:srgbClr val="FF7B72"/>
                </a:solidFill>
                <a:latin typeface="Consolas"/>
              </a:rPr>
              <a:t>in</a:t>
            </a:r>
            <a:r>
              <a:rPr sz="1400">
                <a:solidFill>
                  <a:srgbClr val="E6E6E6"/>
                </a:solidFill>
                <a:latin typeface="Consolas"/>
              </a:rPr>
              <a:t> roles:</a:t>
            </a:r>
          </a:p>
          <a:p>
            <a:pPr>
              <a:spcAft>
                <a:spcPts val="0"/>
              </a:spcAft>
            </a:pPr>
            <a:r>
              <a:rPr sz="1400">
                <a:solidFill>
                  <a:srgbClr val="E6E6E6"/>
                </a:solidFill>
                <a:latin typeface="Consolas"/>
              </a:rPr>
              <a:t>            </a:t>
            </a:r>
            <a:r>
              <a:rPr sz="1400">
                <a:solidFill>
                  <a:srgbClr val="FF7B72"/>
                </a:solidFill>
                <a:latin typeface="Consolas"/>
              </a:rPr>
              <a:t>raise</a:t>
            </a:r>
            <a:r>
              <a:rPr sz="1400">
                <a:solidFill>
                  <a:srgbClr val="E6E6E6"/>
                </a:solidFill>
                <a:latin typeface="Consolas"/>
              </a:rPr>
              <a:t> HTTPException(</a:t>
            </a:r>
            <a:r>
              <a:rPr sz="1400">
                <a:solidFill>
                  <a:srgbClr val="F2B16A"/>
                </a:solidFill>
                <a:latin typeface="Consolas"/>
              </a:rPr>
              <a:t>403</a:t>
            </a:r>
            <a:r>
              <a:rPr sz="1400">
                <a:solidFill>
                  <a:srgbClr val="E6E6E6"/>
                </a:solidFill>
                <a:latin typeface="Consolas"/>
              </a:rPr>
              <a:t>, </a:t>
            </a:r>
            <a:r>
              <a:rPr sz="1400">
                <a:solidFill>
                  <a:srgbClr val="A5D68A"/>
                </a:solidFill>
                <a:latin typeface="Consolas"/>
              </a:rPr>
              <a:t>"Not allowed"</a:t>
            </a:r>
            <a:r>
              <a:rPr sz="1400">
                <a:solidFill>
                  <a:srgbClr val="E6E6E6"/>
                </a:solidFill>
                <a:latin typeface="Consolas"/>
              </a:rPr>
              <a:t>)</a:t>
            </a:r>
          </a:p>
          <a:p>
            <a:pPr>
              <a:spcAft>
                <a:spcPts val="0"/>
              </a:spcAft>
            </a:pPr>
            <a:r>
              <a:rPr sz="1400">
                <a:solidFill>
                  <a:srgbClr val="E6E6E6"/>
                </a:solidFill>
                <a:latin typeface="Consolas"/>
              </a:rPr>
              <a:t>        </a:t>
            </a:r>
            <a:r>
              <a:rPr sz="1400">
                <a:solidFill>
                  <a:srgbClr val="FF7B72"/>
                </a:solidFill>
                <a:latin typeface="Consolas"/>
              </a:rPr>
              <a:t>return</a:t>
            </a:r>
            <a:r>
              <a:rPr sz="1400">
                <a:solidFill>
                  <a:srgbClr val="E6E6E6"/>
                </a:solidFill>
                <a:latin typeface="Consolas"/>
              </a:rPr>
              <a:t> user</a:t>
            </a:r>
          </a:p>
          <a:p>
            <a:pPr>
              <a:spcAft>
                <a:spcPts val="0"/>
              </a:spcAft>
            </a:pPr>
            <a:r>
              <a:rPr sz="1400">
                <a:solidFill>
                  <a:srgbClr val="E6E6E6"/>
                </a:solidFill>
                <a:latin typeface="Consolas"/>
              </a:rPr>
              <a:t>    </a:t>
            </a:r>
            <a:r>
              <a:rPr sz="1400">
                <a:solidFill>
                  <a:srgbClr val="FF7B72"/>
                </a:solidFill>
                <a:latin typeface="Consolas"/>
              </a:rPr>
              <a:t>return</a:t>
            </a:r>
            <a:r>
              <a:rPr sz="1400">
                <a:solidFill>
                  <a:srgbClr val="E6E6E6"/>
                </a:solidFill>
                <a:latin typeface="Consolas"/>
              </a:rPr>
              <a:t> checker</a:t>
            </a:r>
          </a:p>
          <a:p>
            <a:pPr>
              <a:spcAft>
                <a:spcPts val="0"/>
              </a:spcAft>
            </a:pPr>
            <a:r>
              <a:rPr sz="1400">
                <a:solidFill>
                  <a:srgbClr val="E6E6E6"/>
                </a:solidFill>
                <a:latin typeface="Consolas"/>
              </a:rPr>
              <a:t> </a:t>
            </a:r>
          </a:p>
          <a:p>
            <a:pPr>
              <a:spcAft>
                <a:spcPts val="0"/>
              </a:spcAft>
            </a:pPr>
            <a:r>
              <a:rPr sz="1400">
                <a:solidFill>
                  <a:srgbClr val="E6E6E6"/>
                </a:solidFill>
                <a:latin typeface="Consolas"/>
              </a:rPr>
              <a:t>@router.get(</a:t>
            </a:r>
            <a:r>
              <a:rPr sz="1400">
                <a:solidFill>
                  <a:srgbClr val="A5D68A"/>
                </a:solidFill>
                <a:latin typeface="Consolas"/>
              </a:rPr>
              <a:t>"/stats"</a:t>
            </a:r>
            <a:r>
              <a:rPr sz="1400">
                <a:solidFill>
                  <a:srgbClr val="E6E6E6"/>
                </a:solidFill>
                <a:latin typeface="Consolas"/>
              </a:rPr>
              <a:t>)</a:t>
            </a:r>
          </a:p>
          <a:p>
            <a:pPr>
              <a:spcAft>
                <a:spcPts val="0"/>
              </a:spcAft>
            </a:pPr>
            <a:r>
              <a:rPr sz="1400">
                <a:solidFill>
                  <a:srgbClr val="FF7B72"/>
                </a:solidFill>
                <a:latin typeface="Consolas"/>
              </a:rPr>
              <a:t>def</a:t>
            </a:r>
            <a:r>
              <a:rPr sz="1400">
                <a:solidFill>
                  <a:srgbClr val="E6E6E6"/>
                </a:solidFill>
                <a:latin typeface="Consolas"/>
              </a:rPr>
              <a:t> stats(user=Depends(require_role(</a:t>
            </a:r>
            <a:r>
              <a:rPr sz="1400">
                <a:solidFill>
                  <a:srgbClr val="A5D68A"/>
                </a:solidFill>
                <a:latin typeface="Consolas"/>
              </a:rPr>
              <a:t>"admin"</a:t>
            </a:r>
            <a:r>
              <a:rPr sz="1400">
                <a:solidFill>
                  <a:srgbClr val="E6E6E6"/>
                </a:solidFill>
                <a:latin typeface="Consolas"/>
              </a:rPr>
              <a:t>))):</a:t>
            </a:r>
          </a:p>
          <a:p>
            <a:pPr>
              <a:spcAft>
                <a:spcPts val="0"/>
              </a:spcAft>
            </a:pPr>
            <a:r>
              <a:rPr sz="1400">
                <a:solidFill>
                  <a:srgbClr val="E6E6E6"/>
                </a:solidFill>
                <a:latin typeface="Consolas"/>
              </a:rPr>
              <a:t>    ...</a:t>
            </a:r>
          </a:p>
        </p:txBody>
      </p:sp>
      <p:sp>
        <p:nvSpPr>
          <p:cNvPr id="9" name="TextBox 8"/>
          <p:cNvSpPr txBox="1"/>
          <p:nvPr/>
        </p:nvSpPr>
        <p:spPr>
          <a:xfrm>
            <a:off x="6309360" y="1691640"/>
            <a:ext cx="5486400" cy="274320"/>
          </a:xfrm>
          <a:prstGeom prst="rect">
            <a:avLst/>
          </a:prstGeom>
          <a:noFill/>
        </p:spPr>
        <p:txBody>
          <a:bodyPr wrap="square" lIns="0" rIns="0" tIns="0" bIns="0" anchor="t">
            <a:spAutoFit/>
          </a:bodyPr>
          <a:lstStyle/>
          <a:p>
            <a:pPr algn="l"/>
            <a:r>
              <a:rPr sz="1400" b="1" i="0">
                <a:solidFill>
                  <a:srgbClr val="C62828"/>
                </a:solidFill>
                <a:latin typeface="Calibri"/>
              </a:rPr>
              <a:t>Frontend: one place for every call</a:t>
            </a:r>
          </a:p>
        </p:txBody>
      </p:sp>
      <p:sp>
        <p:nvSpPr>
          <p:cNvPr id="10" name="Rounded Rectangle 9"/>
          <p:cNvSpPr/>
          <p:nvPr/>
        </p:nvSpPr>
        <p:spPr>
          <a:xfrm>
            <a:off x="6309360" y="2011680"/>
            <a:ext cx="5257800" cy="3383280"/>
          </a:xfrm>
          <a:prstGeom prst="roundRect">
            <a:avLst>
              <a:gd name="adj" fmla="val 3000"/>
            </a:avLst>
          </a:prstGeom>
          <a:solidFill>
            <a:srgbClr val="1E21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37960" y="2194560"/>
            <a:ext cx="4800600" cy="3017520"/>
          </a:xfrm>
          <a:prstGeom prst="rect">
            <a:avLst/>
          </a:prstGeom>
          <a:noFill/>
        </p:spPr>
        <p:txBody>
          <a:bodyPr wrap="none" lIns="0" rIns="0" tIns="0" bIns="0">
            <a:spAutoFit/>
          </a:bodyPr>
          <a:lstStyle/>
          <a:p>
            <a:pPr>
              <a:spcAft>
                <a:spcPts val="0"/>
              </a:spcAft>
            </a:pPr>
            <a:r>
              <a:rPr sz="1400">
                <a:solidFill>
                  <a:srgbClr val="FF7B72"/>
                </a:solidFill>
                <a:latin typeface="Consolas"/>
              </a:rPr>
              <a:t>async</a:t>
            </a:r>
            <a:r>
              <a:rPr sz="1400">
                <a:solidFill>
                  <a:srgbClr val="E6E6E6"/>
                </a:solidFill>
                <a:latin typeface="Consolas"/>
              </a:rPr>
              <a:t> call(method, url, body) {</a:t>
            </a:r>
          </a:p>
          <a:p>
            <a:pPr>
              <a:spcAft>
                <a:spcPts val="0"/>
              </a:spcAft>
            </a:pPr>
            <a:r>
              <a:rPr sz="1400">
                <a:solidFill>
                  <a:srgbClr val="E6E6E6"/>
                </a:solidFill>
                <a:latin typeface="Consolas"/>
              </a:rPr>
              <a:t>  </a:t>
            </a:r>
            <a:r>
              <a:rPr sz="1400">
                <a:solidFill>
                  <a:srgbClr val="FF7B72"/>
                </a:solidFill>
                <a:latin typeface="Consolas"/>
              </a:rPr>
              <a:t>const</a:t>
            </a:r>
            <a:r>
              <a:rPr sz="1400">
                <a:solidFill>
                  <a:srgbClr val="E6E6E6"/>
                </a:solidFill>
                <a:latin typeface="Consolas"/>
              </a:rPr>
              <a:t> opts = { method, headers: {</a:t>
            </a:r>
          </a:p>
          <a:p>
            <a:pPr>
              <a:spcAft>
                <a:spcPts val="0"/>
              </a:spcAft>
            </a:pPr>
            <a:r>
              <a:rPr sz="1400">
                <a:solidFill>
                  <a:srgbClr val="E6E6E6"/>
                </a:solidFill>
                <a:latin typeface="Consolas"/>
              </a:rPr>
              <a:t>    </a:t>
            </a:r>
            <a:r>
              <a:rPr sz="1400">
                <a:solidFill>
                  <a:srgbClr val="A5D68A"/>
                </a:solidFill>
                <a:latin typeface="Consolas"/>
              </a:rPr>
              <a:t>"Content-Type"</a:t>
            </a:r>
            <a:r>
              <a:rPr sz="1400">
                <a:solidFill>
                  <a:srgbClr val="E6E6E6"/>
                </a:solidFill>
                <a:latin typeface="Consolas"/>
              </a:rPr>
              <a:t>: </a:t>
            </a:r>
            <a:r>
              <a:rPr sz="1400">
                <a:solidFill>
                  <a:srgbClr val="A5D68A"/>
                </a:solidFill>
                <a:latin typeface="Consolas"/>
              </a:rPr>
              <a:t>"application/json"</a:t>
            </a:r>
            <a:r>
              <a:rPr sz="1400">
                <a:solidFill>
                  <a:srgbClr val="E6E6E6"/>
                </a:solidFill>
                <a:latin typeface="Consolas"/>
              </a:rPr>
              <a:t> } };</a:t>
            </a:r>
          </a:p>
          <a:p>
            <a:pPr>
              <a:spcAft>
                <a:spcPts val="0"/>
              </a:spcAft>
            </a:pPr>
            <a:r>
              <a:rPr sz="1400">
                <a:solidFill>
                  <a:srgbClr val="E6E6E6"/>
                </a:solidFill>
                <a:latin typeface="Consolas"/>
              </a:rPr>
              <a:t>  </a:t>
            </a:r>
            <a:r>
              <a:rPr sz="1400">
                <a:solidFill>
                  <a:srgbClr val="FF7B72"/>
                </a:solidFill>
                <a:latin typeface="Consolas"/>
              </a:rPr>
              <a:t>if</a:t>
            </a:r>
            <a:r>
              <a:rPr sz="1400">
                <a:solidFill>
                  <a:srgbClr val="E6E6E6"/>
                </a:solidFill>
                <a:latin typeface="Consolas"/>
              </a:rPr>
              <a:t> (API.token())</a:t>
            </a:r>
          </a:p>
          <a:p>
            <a:pPr>
              <a:spcAft>
                <a:spcPts val="0"/>
              </a:spcAft>
            </a:pPr>
            <a:r>
              <a:rPr sz="1400">
                <a:solidFill>
                  <a:srgbClr val="E6E6E6"/>
                </a:solidFill>
                <a:latin typeface="Consolas"/>
              </a:rPr>
              <a:t>    opts.headers.Authorization =</a:t>
            </a:r>
          </a:p>
          <a:p>
            <a:pPr>
              <a:spcAft>
                <a:spcPts val="0"/>
              </a:spcAft>
            </a:pPr>
            <a:r>
              <a:rPr sz="1400">
                <a:solidFill>
                  <a:srgbClr val="E6E6E6"/>
                </a:solidFill>
                <a:latin typeface="Consolas"/>
              </a:rPr>
              <a:t>      </a:t>
            </a:r>
            <a:r>
              <a:rPr sz="1400">
                <a:solidFill>
                  <a:srgbClr val="A5D68A"/>
                </a:solidFill>
                <a:latin typeface="Consolas"/>
              </a:rPr>
              <a:t>"Bearer "</a:t>
            </a:r>
            <a:r>
              <a:rPr sz="1400">
                <a:solidFill>
                  <a:srgbClr val="E6E6E6"/>
                </a:solidFill>
                <a:latin typeface="Consolas"/>
              </a:rPr>
              <a:t> + API.token();</a:t>
            </a:r>
          </a:p>
          <a:p>
            <a:pPr>
              <a:spcAft>
                <a:spcPts val="0"/>
              </a:spcAft>
            </a:pPr>
            <a:r>
              <a:rPr sz="1400">
                <a:solidFill>
                  <a:srgbClr val="E6E6E6"/>
                </a:solidFill>
                <a:latin typeface="Consolas"/>
              </a:rPr>
              <a:t>  </a:t>
            </a:r>
            <a:r>
              <a:rPr sz="1400">
                <a:solidFill>
                  <a:srgbClr val="FF7B72"/>
                </a:solidFill>
                <a:latin typeface="Consolas"/>
              </a:rPr>
              <a:t>if</a:t>
            </a:r>
            <a:r>
              <a:rPr sz="1400">
                <a:solidFill>
                  <a:srgbClr val="E6E6E6"/>
                </a:solidFill>
                <a:latin typeface="Consolas"/>
              </a:rPr>
              <a:t> (body !== undefined)</a:t>
            </a:r>
          </a:p>
          <a:p>
            <a:pPr>
              <a:spcAft>
                <a:spcPts val="0"/>
              </a:spcAft>
            </a:pPr>
            <a:r>
              <a:rPr sz="1400">
                <a:solidFill>
                  <a:srgbClr val="E6E6E6"/>
                </a:solidFill>
                <a:latin typeface="Consolas"/>
              </a:rPr>
              <a:t>    opts.body = JSON.stringify(body);</a:t>
            </a:r>
          </a:p>
          <a:p>
            <a:pPr>
              <a:spcAft>
                <a:spcPts val="0"/>
              </a:spcAft>
            </a:pPr>
            <a:r>
              <a:rPr sz="1400">
                <a:solidFill>
                  <a:srgbClr val="E6E6E6"/>
                </a:solidFill>
                <a:latin typeface="Consolas"/>
              </a:rPr>
              <a:t>  </a:t>
            </a:r>
            <a:r>
              <a:rPr sz="1400">
                <a:solidFill>
                  <a:srgbClr val="FF7B72"/>
                </a:solidFill>
                <a:latin typeface="Consolas"/>
              </a:rPr>
              <a:t>const</a:t>
            </a:r>
            <a:r>
              <a:rPr sz="1400">
                <a:solidFill>
                  <a:srgbClr val="E6E6E6"/>
                </a:solidFill>
                <a:latin typeface="Consolas"/>
              </a:rPr>
              <a:t> res = </a:t>
            </a:r>
            <a:r>
              <a:rPr sz="1400">
                <a:solidFill>
                  <a:srgbClr val="FF7B72"/>
                </a:solidFill>
                <a:latin typeface="Consolas"/>
              </a:rPr>
              <a:t>await</a:t>
            </a:r>
            <a:r>
              <a:rPr sz="1400">
                <a:solidFill>
                  <a:srgbClr val="E6E6E6"/>
                </a:solidFill>
                <a:latin typeface="Consolas"/>
              </a:rPr>
              <a:t> fetch(</a:t>
            </a:r>
            <a:r>
              <a:rPr sz="1400">
                <a:solidFill>
                  <a:srgbClr val="A5D68A"/>
                </a:solidFill>
                <a:latin typeface="Consolas"/>
              </a:rPr>
              <a:t>"/api"</a:t>
            </a:r>
            <a:r>
              <a:rPr sz="1400">
                <a:solidFill>
                  <a:srgbClr val="E6E6E6"/>
                </a:solidFill>
                <a:latin typeface="Consolas"/>
              </a:rPr>
              <a:t> + url, opts);</a:t>
            </a:r>
          </a:p>
          <a:p>
            <a:pPr>
              <a:spcAft>
                <a:spcPts val="0"/>
              </a:spcAft>
            </a:pPr>
            <a:r>
              <a:rPr sz="1400">
                <a:solidFill>
                  <a:srgbClr val="E6E6E6"/>
                </a:solidFill>
                <a:latin typeface="Consolas"/>
              </a:rPr>
              <a:t>  ...</a:t>
            </a:r>
          </a:p>
          <a:p>
            <a:pPr>
              <a:spcAft>
                <a:spcPts val="0"/>
              </a:spcAft>
            </a:pPr>
            <a:r>
              <a:rPr sz="1400">
                <a:solidFill>
                  <a:srgbClr val="E6E6E6"/>
                </a:solidFill>
                <a:latin typeface="Consolas"/>
              </a:rPr>
              <a:t>}</a:t>
            </a:r>
          </a:p>
        </p:txBody>
      </p:sp>
      <p:sp>
        <p:nvSpPr>
          <p:cNvPr id="12" name="TextBox 11"/>
          <p:cNvSpPr txBox="1"/>
          <p:nvPr/>
        </p:nvSpPr>
        <p:spPr>
          <a:xfrm>
            <a:off x="640080" y="5623560"/>
            <a:ext cx="10911535" cy="640080"/>
          </a:xfrm>
          <a:prstGeom prst="rect">
            <a:avLst/>
          </a:prstGeom>
          <a:noFill/>
        </p:spPr>
        <p:txBody>
          <a:bodyPr wrap="square" lIns="0" rIns="0" tIns="0" bIns="0" anchor="t">
            <a:spAutoFit/>
          </a:bodyPr>
          <a:lstStyle/>
          <a:p>
            <a:pPr algn="l"/>
            <a:r>
              <a:rPr sz="1500" b="0" i="0">
                <a:solidFill>
                  <a:srgbClr val="5F6B78"/>
                </a:solidFill>
                <a:latin typeface="Calibri"/>
              </a:rPr>
              <a:t>Passwords are stored with PBKDF2 (SHA-256, 100,000 rounds, random salt per user). A hidden menu is not security, so every endpoint verifies the role.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SCREENS  |  ADMIN</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The admin sees stock, trends and alerts on a single screen</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15</a:t>
            </a:r>
          </a:p>
        </p:txBody>
      </p:sp>
      <p:pic>
        <p:nvPicPr>
          <p:cNvPr id="6" name="Picture 5" descr="Admin dashboard with statistics cards, stock bar chart, donation trend chart and alerts"/>
          <p:cNvPicPr>
            <a:picLocks noChangeAspect="1"/>
          </p:cNvPicPr>
          <p:nvPr/>
        </p:nvPicPr>
        <p:blipFill>
          <a:blip r:embed="rId2"/>
          <a:stretch>
            <a:fillRect/>
          </a:stretch>
        </p:blipFill>
        <p:spPr>
          <a:xfrm>
            <a:off x="640080" y="1645920"/>
            <a:ext cx="7315200" cy="4284158"/>
          </a:xfrm>
          <a:prstGeom prst="rect">
            <a:avLst/>
          </a:prstGeom>
        </p:spPr>
      </p:pic>
      <p:sp>
        <p:nvSpPr>
          <p:cNvPr id="7" name="TextBox 6"/>
          <p:cNvSpPr txBox="1"/>
          <p:nvPr/>
        </p:nvSpPr>
        <p:spPr>
          <a:xfrm>
            <a:off x="8229600" y="2011680"/>
            <a:ext cx="3383280" cy="3840480"/>
          </a:xfrm>
          <a:prstGeom prst="rect">
            <a:avLst/>
          </a:prstGeom>
          <a:noFill/>
        </p:spPr>
        <p:txBody>
          <a:bodyPr wrap="square" lIns="0" rIns="0" tIns="0" bIns="0">
            <a:spAutoFit/>
          </a:bodyPr>
          <a:lstStyle/>
          <a:p>
            <a:pPr marL="256032" indent="-256032">
              <a:spcAft>
                <a:spcPts val="1400"/>
              </a:spcAft>
              <a:buClr>
                <a:srgbClr val="C62828"/>
              </a:buClr>
              <a:buChar char="•"/>
            </a:pPr>
            <a:r>
              <a:rPr b="1" sz="1600">
                <a:solidFill>
                  <a:srgbClr val="1F2933"/>
                </a:solidFill>
                <a:latin typeface="Calibri"/>
              </a:rPr>
              <a:t>Red bars </a:t>
            </a:r>
            <a:r>
              <a:rPr sz="1600">
                <a:solidFill>
                  <a:srgbClr val="1F2933"/>
                </a:solidFill>
                <a:latin typeface="Calibri"/>
              </a:rPr>
              <a:t>mark groups below 5 units</a:t>
            </a:r>
          </a:p>
          <a:p>
            <a:pPr marL="256032" indent="-256032">
              <a:spcAft>
                <a:spcPts val="1400"/>
              </a:spcAft>
              <a:buClr>
                <a:srgbClr val="C62828"/>
              </a:buClr>
              <a:buChar char="•"/>
            </a:pPr>
            <a:r>
              <a:rPr b="1" sz="1600">
                <a:solidFill>
                  <a:srgbClr val="1F2933"/>
                </a:solidFill>
                <a:latin typeface="Calibri"/>
              </a:rPr>
              <a:t>Alerts </a:t>
            </a:r>
            <a:r>
              <a:rPr sz="1600">
                <a:solidFill>
                  <a:srgbClr val="1F2933"/>
                </a:solidFill>
                <a:latin typeface="Calibri"/>
              </a:rPr>
              <a:t>list pending requests, low stock and units expiring within 7 days</a:t>
            </a:r>
          </a:p>
          <a:p>
            <a:pPr marL="256032" indent="-256032">
              <a:spcAft>
                <a:spcPts val="1400"/>
              </a:spcAft>
              <a:buClr>
                <a:srgbClr val="C62828"/>
              </a:buClr>
              <a:buChar char="•"/>
            </a:pPr>
            <a:r>
              <a:rPr b="1" sz="1600">
                <a:solidFill>
                  <a:srgbClr val="1F2933"/>
                </a:solidFill>
                <a:latin typeface="Calibri"/>
              </a:rPr>
              <a:t>Charts </a:t>
            </a:r>
            <a:r>
              <a:rPr sz="1600">
                <a:solidFill>
                  <a:srgbClr val="1F2933"/>
                </a:solidFill>
                <a:latin typeface="Calibri"/>
              </a:rPr>
              <a:t>are drawn on canvas, so they work offline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SCREENS  |  DONOR AND HOSPITAL</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Donors see eligibility, hospitals see stock instantly</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16</a:t>
            </a:r>
          </a:p>
        </p:txBody>
      </p:sp>
      <p:pic>
        <p:nvPicPr>
          <p:cNvPr id="6" name="Picture 5" descr="Donor dashboard showing eligibility and blood compatibility checker"/>
          <p:cNvPicPr>
            <a:picLocks noChangeAspect="1"/>
          </p:cNvPicPr>
          <p:nvPr/>
        </p:nvPicPr>
        <p:blipFill>
          <a:blip r:embed="rId2"/>
          <a:stretch>
            <a:fillRect/>
          </a:stretch>
        </p:blipFill>
        <p:spPr>
          <a:xfrm>
            <a:off x="640080" y="1783080"/>
            <a:ext cx="5394960" cy="3159566"/>
          </a:xfrm>
          <a:prstGeom prst="rect">
            <a:avLst/>
          </a:prstGeom>
        </p:spPr>
      </p:pic>
      <p:pic>
        <p:nvPicPr>
          <p:cNvPr id="7" name="Picture 6" descr="Hospital view of live blood availability by group"/>
          <p:cNvPicPr>
            <a:picLocks noChangeAspect="1"/>
          </p:cNvPicPr>
          <p:nvPr/>
        </p:nvPicPr>
        <p:blipFill>
          <a:blip r:embed="rId3"/>
          <a:stretch>
            <a:fillRect/>
          </a:stretch>
        </p:blipFill>
        <p:spPr>
          <a:xfrm>
            <a:off x="6309360" y="1783080"/>
            <a:ext cx="5394960" cy="3159566"/>
          </a:xfrm>
          <a:prstGeom prst="rect">
            <a:avLst/>
          </a:prstGeom>
        </p:spPr>
      </p:pic>
      <p:sp>
        <p:nvSpPr>
          <p:cNvPr id="8" name="TextBox 7"/>
          <p:cNvSpPr txBox="1"/>
          <p:nvPr/>
        </p:nvSpPr>
        <p:spPr>
          <a:xfrm>
            <a:off x="640080" y="5349240"/>
            <a:ext cx="5394960" cy="731520"/>
          </a:xfrm>
          <a:prstGeom prst="rect">
            <a:avLst/>
          </a:prstGeom>
          <a:noFill/>
        </p:spPr>
        <p:txBody>
          <a:bodyPr wrap="square" lIns="0" rIns="0" tIns="0" bIns="0" anchor="t">
            <a:spAutoFit/>
          </a:bodyPr>
          <a:lstStyle/>
          <a:p>
            <a:pPr algn="l"/>
            <a:r>
              <a:rPr sz="1500" b="0" i="0">
                <a:solidFill>
                  <a:srgbClr val="5F6B78"/>
                </a:solidFill>
                <a:latin typeface="Calibri"/>
              </a:rPr>
              <a:t>Donor dashboard: eligibility result, next possible date, compatibility checker</a:t>
            </a:r>
          </a:p>
        </p:txBody>
      </p:sp>
      <p:sp>
        <p:nvSpPr>
          <p:cNvPr id="9" name="TextBox 8"/>
          <p:cNvSpPr txBox="1"/>
          <p:nvPr/>
        </p:nvSpPr>
        <p:spPr>
          <a:xfrm>
            <a:off x="6309360" y="5349240"/>
            <a:ext cx="5394960" cy="731520"/>
          </a:xfrm>
          <a:prstGeom prst="rect">
            <a:avLst/>
          </a:prstGeom>
          <a:noFill/>
        </p:spPr>
        <p:txBody>
          <a:bodyPr wrap="square" lIns="0" rIns="0" tIns="0" bIns="0" anchor="t">
            <a:spAutoFit/>
          </a:bodyPr>
          <a:lstStyle/>
          <a:p>
            <a:pPr algn="l"/>
            <a:r>
              <a:rPr sz="1500" b="0" i="0">
                <a:solidFill>
                  <a:srgbClr val="5F6B78"/>
                </a:solidFill>
                <a:latin typeface="Calibri"/>
              </a:rPr>
              <a:t>Hospital dashboard: units per group, limited stock warning, one click to request blood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PRESENTATION TOOL</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Demo mode keeps the live presentation on track</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17</a:t>
            </a:r>
          </a:p>
        </p:txBody>
      </p:sp>
      <p:pic>
        <p:nvPicPr>
          <p:cNvPr id="6" name="Picture 5" descr="Demo mode guide panel open on the LifeDrop home page"/>
          <p:cNvPicPr>
            <a:picLocks noChangeAspect="1"/>
          </p:cNvPicPr>
          <p:nvPr/>
        </p:nvPicPr>
        <p:blipFill>
          <a:blip r:embed="rId2"/>
          <a:stretch>
            <a:fillRect/>
          </a:stretch>
        </p:blipFill>
        <p:spPr>
          <a:xfrm>
            <a:off x="640080" y="1691640"/>
            <a:ext cx="7315200" cy="4284158"/>
          </a:xfrm>
          <a:prstGeom prst="rect">
            <a:avLst/>
          </a:prstGeom>
        </p:spPr>
      </p:pic>
      <p:sp>
        <p:nvSpPr>
          <p:cNvPr id="7" name="TextBox 6"/>
          <p:cNvSpPr txBox="1"/>
          <p:nvPr/>
        </p:nvSpPr>
        <p:spPr>
          <a:xfrm>
            <a:off x="8229600" y="1920240"/>
            <a:ext cx="3383280" cy="4206240"/>
          </a:xfrm>
          <a:prstGeom prst="rect">
            <a:avLst/>
          </a:prstGeom>
          <a:noFill/>
        </p:spPr>
        <p:txBody>
          <a:bodyPr wrap="square" lIns="0" rIns="0" tIns="0" bIns="0">
            <a:spAutoFit/>
          </a:bodyPr>
          <a:lstStyle/>
          <a:p>
            <a:pPr marL="256032" indent="-256032">
              <a:spcAft>
                <a:spcPts val="1200"/>
              </a:spcAft>
              <a:buClr>
                <a:srgbClr val="C62828"/>
              </a:buClr>
              <a:buChar char="•"/>
            </a:pPr>
            <a:r>
              <a:rPr b="1" sz="1600">
                <a:solidFill>
                  <a:srgbClr val="1F2933"/>
                </a:solidFill>
                <a:latin typeface="Calibri"/>
              </a:rPr>
              <a:t>Eight guided steps </a:t>
            </a:r>
            <a:r>
              <a:rPr sz="1600">
                <a:solidFill>
                  <a:srgbClr val="1F2933"/>
                </a:solidFill>
                <a:latin typeface="Calibri"/>
              </a:rPr>
              <a:t>from home page to dashboard</a:t>
            </a:r>
          </a:p>
          <a:p>
            <a:pPr marL="256032" indent="-256032">
              <a:spcAft>
                <a:spcPts val="1200"/>
              </a:spcAft>
              <a:buClr>
                <a:srgbClr val="C62828"/>
              </a:buClr>
              <a:buChar char="•"/>
            </a:pPr>
            <a:r>
              <a:rPr b="1" sz="1600">
                <a:solidFill>
                  <a:srgbClr val="1F2933"/>
                </a:solidFill>
                <a:latin typeface="Calibri"/>
              </a:rPr>
              <a:t>One click login </a:t>
            </a:r>
            <a:r>
              <a:rPr sz="1600">
                <a:solidFill>
                  <a:srgbClr val="1F2933"/>
                </a:solidFill>
                <a:latin typeface="Calibri"/>
              </a:rPr>
              <a:t>as Admin, Donor or Hospital</a:t>
            </a:r>
          </a:p>
          <a:p>
            <a:pPr marL="256032" indent="-256032">
              <a:spcAft>
                <a:spcPts val="1200"/>
              </a:spcAft>
              <a:buClr>
                <a:srgbClr val="C62828"/>
              </a:buClr>
              <a:buChar char="•"/>
            </a:pPr>
            <a:r>
              <a:rPr b="1" sz="1600">
                <a:solidFill>
                  <a:srgbClr val="1F2933"/>
                </a:solidFill>
                <a:latin typeface="Calibri"/>
              </a:rPr>
              <a:t>Reset demo data </a:t>
            </a:r>
            <a:r>
              <a:rPr sz="1600">
                <a:solidFill>
                  <a:srgbClr val="1F2933"/>
                </a:solidFill>
                <a:latin typeface="Calibri"/>
              </a:rPr>
              <a:t>between rehearsals</a:t>
            </a:r>
          </a:p>
          <a:p>
            <a:pPr marL="256032" indent="-256032">
              <a:spcAft>
                <a:spcPts val="1200"/>
              </a:spcAft>
              <a:buClr>
                <a:srgbClr val="C62828"/>
              </a:buClr>
              <a:buChar char="•"/>
            </a:pPr>
            <a:r>
              <a:rPr b="1" sz="1600">
                <a:solidFill>
                  <a:srgbClr val="1F2933"/>
                </a:solidFill>
                <a:latin typeface="Calibri"/>
              </a:rPr>
              <a:t>Large size mode </a:t>
            </a:r>
            <a:r>
              <a:rPr sz="1600">
                <a:solidFill>
                  <a:srgbClr val="1F2933"/>
                </a:solidFill>
                <a:latin typeface="Calibri"/>
              </a:rPr>
              <a:t>for the back row; arrow keys move between steps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DEMO</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Live demo: one blood request from start to finish</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18</a:t>
            </a:r>
          </a:p>
        </p:txBody>
      </p:sp>
      <p:sp>
        <p:nvSpPr>
          <p:cNvPr id="6" name="Oval 5"/>
          <p:cNvSpPr/>
          <p:nvPr/>
        </p:nvSpPr>
        <p:spPr>
          <a:xfrm>
            <a:off x="640080" y="1828800"/>
            <a:ext cx="640080" cy="64008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1828800"/>
            <a:ext cx="640080" cy="640080"/>
          </a:xfrm>
          <a:prstGeom prst="rect">
            <a:avLst/>
          </a:prstGeom>
          <a:noFill/>
        </p:spPr>
        <p:txBody>
          <a:bodyPr wrap="square" lIns="0" rIns="0" tIns="0" bIns="0" anchor="ctr">
            <a:spAutoFit/>
          </a:bodyPr>
          <a:lstStyle/>
          <a:p>
            <a:pPr algn="ctr"/>
            <a:r>
              <a:rPr sz="2200" b="1" i="0">
                <a:solidFill>
                  <a:srgbClr val="FFFFFF"/>
                </a:solidFill>
                <a:latin typeface="Calibri"/>
              </a:rPr>
              <a:t>1</a:t>
            </a:r>
          </a:p>
        </p:txBody>
      </p:sp>
      <p:sp>
        <p:nvSpPr>
          <p:cNvPr id="8" name="TextBox 7"/>
          <p:cNvSpPr txBox="1"/>
          <p:nvPr/>
        </p:nvSpPr>
        <p:spPr>
          <a:xfrm>
            <a:off x="1554480" y="1847088"/>
            <a:ext cx="2011680" cy="640080"/>
          </a:xfrm>
          <a:prstGeom prst="rect">
            <a:avLst/>
          </a:prstGeom>
          <a:noFill/>
        </p:spPr>
        <p:txBody>
          <a:bodyPr wrap="square" lIns="0" rIns="0" tIns="0" bIns="0" anchor="ctr">
            <a:spAutoFit/>
          </a:bodyPr>
          <a:lstStyle/>
          <a:p>
            <a:pPr algn="l"/>
            <a:r>
              <a:rPr sz="1800" b="1" i="0">
                <a:solidFill>
                  <a:srgbClr val="C62828"/>
                </a:solidFill>
                <a:latin typeface="Calibri"/>
              </a:rPr>
              <a:t>Hospital</a:t>
            </a:r>
          </a:p>
        </p:txBody>
      </p:sp>
      <p:sp>
        <p:nvSpPr>
          <p:cNvPr id="9" name="TextBox 8"/>
          <p:cNvSpPr txBox="1"/>
          <p:nvPr/>
        </p:nvSpPr>
        <p:spPr>
          <a:xfrm>
            <a:off x="3566160" y="1847088"/>
            <a:ext cx="7985455" cy="640080"/>
          </a:xfrm>
          <a:prstGeom prst="rect">
            <a:avLst/>
          </a:prstGeom>
          <a:noFill/>
        </p:spPr>
        <p:txBody>
          <a:bodyPr wrap="square" lIns="0" rIns="0" tIns="0" bIns="0" anchor="ctr">
            <a:spAutoFit/>
          </a:bodyPr>
          <a:lstStyle/>
          <a:p>
            <a:pPr algn="l"/>
            <a:r>
              <a:rPr sz="1800" b="0" i="0">
                <a:solidFill>
                  <a:srgbClr val="1F2933"/>
                </a:solidFill>
                <a:latin typeface="Calibri"/>
              </a:rPr>
              <a:t>Raises a critical request for 3 units of AB-</a:t>
            </a:r>
          </a:p>
        </p:txBody>
      </p:sp>
      <p:sp>
        <p:nvSpPr>
          <p:cNvPr id="10" name="Oval 9"/>
          <p:cNvSpPr/>
          <p:nvPr/>
        </p:nvSpPr>
        <p:spPr>
          <a:xfrm>
            <a:off x="640080" y="2697480"/>
            <a:ext cx="640080" cy="64008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2697480"/>
            <a:ext cx="640080" cy="640080"/>
          </a:xfrm>
          <a:prstGeom prst="rect">
            <a:avLst/>
          </a:prstGeom>
          <a:noFill/>
        </p:spPr>
        <p:txBody>
          <a:bodyPr wrap="square" lIns="0" rIns="0" tIns="0" bIns="0" anchor="ctr">
            <a:spAutoFit/>
          </a:bodyPr>
          <a:lstStyle/>
          <a:p>
            <a:pPr algn="ctr"/>
            <a:r>
              <a:rPr sz="2200" b="1" i="0">
                <a:solidFill>
                  <a:srgbClr val="FFFFFF"/>
                </a:solidFill>
                <a:latin typeface="Calibri"/>
              </a:rPr>
              <a:t>2</a:t>
            </a:r>
          </a:p>
        </p:txBody>
      </p:sp>
      <p:sp>
        <p:nvSpPr>
          <p:cNvPr id="12" name="TextBox 11"/>
          <p:cNvSpPr txBox="1"/>
          <p:nvPr/>
        </p:nvSpPr>
        <p:spPr>
          <a:xfrm>
            <a:off x="1554480" y="2715768"/>
            <a:ext cx="2011680" cy="640080"/>
          </a:xfrm>
          <a:prstGeom prst="rect">
            <a:avLst/>
          </a:prstGeom>
          <a:noFill/>
        </p:spPr>
        <p:txBody>
          <a:bodyPr wrap="square" lIns="0" rIns="0" tIns="0" bIns="0" anchor="ctr">
            <a:spAutoFit/>
          </a:bodyPr>
          <a:lstStyle/>
          <a:p>
            <a:pPr algn="l"/>
            <a:r>
              <a:rPr sz="1800" b="1" i="0">
                <a:solidFill>
                  <a:srgbClr val="C62828"/>
                </a:solidFill>
                <a:latin typeface="Calibri"/>
              </a:rPr>
              <a:t>Admin</a:t>
            </a:r>
          </a:p>
        </p:txBody>
      </p:sp>
      <p:sp>
        <p:nvSpPr>
          <p:cNvPr id="13" name="TextBox 12"/>
          <p:cNvSpPr txBox="1"/>
          <p:nvPr/>
        </p:nvSpPr>
        <p:spPr>
          <a:xfrm>
            <a:off x="3566160" y="2715768"/>
            <a:ext cx="7985455" cy="640080"/>
          </a:xfrm>
          <a:prstGeom prst="rect">
            <a:avLst/>
          </a:prstGeom>
          <a:noFill/>
        </p:spPr>
        <p:txBody>
          <a:bodyPr wrap="square" lIns="0" rIns="0" tIns="0" bIns="0" anchor="ctr">
            <a:spAutoFit/>
          </a:bodyPr>
          <a:lstStyle/>
          <a:p>
            <a:pPr algn="l"/>
            <a:r>
              <a:rPr sz="1800" b="0" i="0">
                <a:solidFill>
                  <a:srgbClr val="1F2933"/>
                </a:solidFill>
                <a:latin typeface="Calibri"/>
              </a:rPr>
              <a:t>Sees it first in the list and tries to issue blood: stock is short</a:t>
            </a:r>
          </a:p>
        </p:txBody>
      </p:sp>
      <p:sp>
        <p:nvSpPr>
          <p:cNvPr id="14" name="Oval 13"/>
          <p:cNvSpPr/>
          <p:nvPr/>
        </p:nvSpPr>
        <p:spPr>
          <a:xfrm>
            <a:off x="640080" y="3566160"/>
            <a:ext cx="640080" cy="64008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3566160"/>
            <a:ext cx="640080" cy="640080"/>
          </a:xfrm>
          <a:prstGeom prst="rect">
            <a:avLst/>
          </a:prstGeom>
          <a:noFill/>
        </p:spPr>
        <p:txBody>
          <a:bodyPr wrap="square" lIns="0" rIns="0" tIns="0" bIns="0" anchor="ctr">
            <a:spAutoFit/>
          </a:bodyPr>
          <a:lstStyle/>
          <a:p>
            <a:pPr algn="ctr"/>
            <a:r>
              <a:rPr sz="2200" b="1" i="0">
                <a:solidFill>
                  <a:srgbClr val="FFFFFF"/>
                </a:solidFill>
                <a:latin typeface="Calibri"/>
              </a:rPr>
              <a:t>3</a:t>
            </a:r>
          </a:p>
        </p:txBody>
      </p:sp>
      <p:sp>
        <p:nvSpPr>
          <p:cNvPr id="16" name="TextBox 15"/>
          <p:cNvSpPr txBox="1"/>
          <p:nvPr/>
        </p:nvSpPr>
        <p:spPr>
          <a:xfrm>
            <a:off x="1554480" y="3584448"/>
            <a:ext cx="2011680" cy="640080"/>
          </a:xfrm>
          <a:prstGeom prst="rect">
            <a:avLst/>
          </a:prstGeom>
          <a:noFill/>
        </p:spPr>
        <p:txBody>
          <a:bodyPr wrap="square" lIns="0" rIns="0" tIns="0" bIns="0" anchor="ctr">
            <a:spAutoFit/>
          </a:bodyPr>
          <a:lstStyle/>
          <a:p>
            <a:pPr algn="l"/>
            <a:r>
              <a:rPr sz="1800" b="1" i="0">
                <a:solidFill>
                  <a:srgbClr val="C62828"/>
                </a:solidFill>
                <a:latin typeface="Calibri"/>
              </a:rPr>
              <a:t>Admin</a:t>
            </a:r>
          </a:p>
        </p:txBody>
      </p:sp>
      <p:sp>
        <p:nvSpPr>
          <p:cNvPr id="17" name="TextBox 16"/>
          <p:cNvSpPr txBox="1"/>
          <p:nvPr/>
        </p:nvSpPr>
        <p:spPr>
          <a:xfrm>
            <a:off x="3566160" y="3584448"/>
            <a:ext cx="7985455" cy="640080"/>
          </a:xfrm>
          <a:prstGeom prst="rect">
            <a:avLst/>
          </a:prstGeom>
          <a:noFill/>
        </p:spPr>
        <p:txBody>
          <a:bodyPr wrap="square" lIns="0" rIns="0" tIns="0" bIns="0" anchor="ctr">
            <a:spAutoFit/>
          </a:bodyPr>
          <a:lstStyle/>
          <a:p>
            <a:pPr algn="l"/>
            <a:r>
              <a:rPr sz="1800" b="0" i="0">
                <a:solidFill>
                  <a:srgbClr val="1F2933"/>
                </a:solidFill>
                <a:latin typeface="Calibri"/>
              </a:rPr>
              <a:t>Allows compatible groups and issues the units</a:t>
            </a:r>
          </a:p>
        </p:txBody>
      </p:sp>
      <p:sp>
        <p:nvSpPr>
          <p:cNvPr id="18" name="Oval 17"/>
          <p:cNvSpPr/>
          <p:nvPr/>
        </p:nvSpPr>
        <p:spPr>
          <a:xfrm>
            <a:off x="640080" y="4434840"/>
            <a:ext cx="640080" cy="64008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0080" y="4434840"/>
            <a:ext cx="640080" cy="640080"/>
          </a:xfrm>
          <a:prstGeom prst="rect">
            <a:avLst/>
          </a:prstGeom>
          <a:noFill/>
        </p:spPr>
        <p:txBody>
          <a:bodyPr wrap="square" lIns="0" rIns="0" tIns="0" bIns="0" anchor="ctr">
            <a:spAutoFit/>
          </a:bodyPr>
          <a:lstStyle/>
          <a:p>
            <a:pPr algn="ctr"/>
            <a:r>
              <a:rPr sz="2200" b="1" i="0">
                <a:solidFill>
                  <a:srgbClr val="FFFFFF"/>
                </a:solidFill>
                <a:latin typeface="Calibri"/>
              </a:rPr>
              <a:t>4</a:t>
            </a:r>
          </a:p>
        </p:txBody>
      </p:sp>
      <p:sp>
        <p:nvSpPr>
          <p:cNvPr id="20" name="TextBox 19"/>
          <p:cNvSpPr txBox="1"/>
          <p:nvPr/>
        </p:nvSpPr>
        <p:spPr>
          <a:xfrm>
            <a:off x="1554480" y="4453127"/>
            <a:ext cx="2011680" cy="640080"/>
          </a:xfrm>
          <a:prstGeom prst="rect">
            <a:avLst/>
          </a:prstGeom>
          <a:noFill/>
        </p:spPr>
        <p:txBody>
          <a:bodyPr wrap="square" lIns="0" rIns="0" tIns="0" bIns="0" anchor="ctr">
            <a:spAutoFit/>
          </a:bodyPr>
          <a:lstStyle/>
          <a:p>
            <a:pPr algn="l"/>
            <a:r>
              <a:rPr sz="1800" b="1" i="0">
                <a:solidFill>
                  <a:srgbClr val="C62828"/>
                </a:solidFill>
                <a:latin typeface="Calibri"/>
              </a:rPr>
              <a:t>Inventory</a:t>
            </a:r>
          </a:p>
        </p:txBody>
      </p:sp>
      <p:sp>
        <p:nvSpPr>
          <p:cNvPr id="21" name="TextBox 20"/>
          <p:cNvSpPr txBox="1"/>
          <p:nvPr/>
        </p:nvSpPr>
        <p:spPr>
          <a:xfrm>
            <a:off x="3566160" y="4453127"/>
            <a:ext cx="7985455" cy="640080"/>
          </a:xfrm>
          <a:prstGeom prst="rect">
            <a:avLst/>
          </a:prstGeom>
          <a:noFill/>
        </p:spPr>
        <p:txBody>
          <a:bodyPr wrap="square" lIns="0" rIns="0" tIns="0" bIns="0" anchor="ctr">
            <a:spAutoFit/>
          </a:bodyPr>
          <a:lstStyle/>
          <a:p>
            <a:pPr algn="l"/>
            <a:r>
              <a:rPr sz="1800" b="0" i="0">
                <a:solidFill>
                  <a:srgbClr val="1F2933"/>
                </a:solidFill>
                <a:latin typeface="Calibri"/>
              </a:rPr>
              <a:t>Stock for the used groups drops, request shows Fulfilled</a:t>
            </a:r>
          </a:p>
        </p:txBody>
      </p:sp>
      <p:sp>
        <p:nvSpPr>
          <p:cNvPr id="22" name="Oval 21"/>
          <p:cNvSpPr/>
          <p:nvPr/>
        </p:nvSpPr>
        <p:spPr>
          <a:xfrm>
            <a:off x="640080" y="5303520"/>
            <a:ext cx="640080" cy="640080"/>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0080" y="5303520"/>
            <a:ext cx="640080" cy="640080"/>
          </a:xfrm>
          <a:prstGeom prst="rect">
            <a:avLst/>
          </a:prstGeom>
          <a:noFill/>
        </p:spPr>
        <p:txBody>
          <a:bodyPr wrap="square" lIns="0" rIns="0" tIns="0" bIns="0" anchor="ctr">
            <a:spAutoFit/>
          </a:bodyPr>
          <a:lstStyle/>
          <a:p>
            <a:pPr algn="ctr"/>
            <a:r>
              <a:rPr sz="2200" b="1" i="0">
                <a:solidFill>
                  <a:srgbClr val="FFFFFF"/>
                </a:solidFill>
                <a:latin typeface="Calibri"/>
              </a:rPr>
              <a:t>5</a:t>
            </a:r>
          </a:p>
        </p:txBody>
      </p:sp>
      <p:sp>
        <p:nvSpPr>
          <p:cNvPr id="24" name="TextBox 23"/>
          <p:cNvSpPr txBox="1"/>
          <p:nvPr/>
        </p:nvSpPr>
        <p:spPr>
          <a:xfrm>
            <a:off x="1554480" y="5321807"/>
            <a:ext cx="2011680" cy="640080"/>
          </a:xfrm>
          <a:prstGeom prst="rect">
            <a:avLst/>
          </a:prstGeom>
          <a:noFill/>
        </p:spPr>
        <p:txBody>
          <a:bodyPr wrap="square" lIns="0" rIns="0" tIns="0" bIns="0" anchor="ctr">
            <a:spAutoFit/>
          </a:bodyPr>
          <a:lstStyle/>
          <a:p>
            <a:pPr algn="l"/>
            <a:r>
              <a:rPr sz="1800" b="1" i="0">
                <a:solidFill>
                  <a:srgbClr val="C62828"/>
                </a:solidFill>
                <a:latin typeface="Calibri"/>
              </a:rPr>
              <a:t>New donor</a:t>
            </a:r>
          </a:p>
        </p:txBody>
      </p:sp>
      <p:sp>
        <p:nvSpPr>
          <p:cNvPr id="25" name="TextBox 24"/>
          <p:cNvSpPr txBox="1"/>
          <p:nvPr/>
        </p:nvSpPr>
        <p:spPr>
          <a:xfrm>
            <a:off x="3566160" y="5321807"/>
            <a:ext cx="7985455" cy="640080"/>
          </a:xfrm>
          <a:prstGeom prst="rect">
            <a:avLst/>
          </a:prstGeom>
          <a:noFill/>
        </p:spPr>
        <p:txBody>
          <a:bodyPr wrap="square" lIns="0" rIns="0" tIns="0" bIns="0" anchor="ctr">
            <a:spAutoFit/>
          </a:bodyPr>
          <a:lstStyle/>
          <a:p>
            <a:pPr algn="l"/>
            <a:r>
              <a:rPr sz="1800" b="0" i="0">
                <a:solidFill>
                  <a:srgbClr val="1F2933"/>
                </a:solidFill>
                <a:latin typeface="Calibri"/>
              </a:rPr>
              <a:t>Registers, books a camp, admin marks donation: stock rises, donor must now wait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TESTING</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All eighteen test cases passed, rules and security included</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19</a:t>
            </a:r>
          </a:p>
        </p:txBody>
      </p:sp>
      <p:sp>
        <p:nvSpPr>
          <p:cNvPr id="6" name="Rectangle 5"/>
          <p:cNvSpPr/>
          <p:nvPr/>
        </p:nvSpPr>
        <p:spPr>
          <a:xfrm>
            <a:off x="640080" y="1920240"/>
            <a:ext cx="3291840" cy="329184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2286000"/>
            <a:ext cx="3291840" cy="1097280"/>
          </a:xfrm>
          <a:prstGeom prst="rect">
            <a:avLst/>
          </a:prstGeom>
          <a:noFill/>
        </p:spPr>
        <p:txBody>
          <a:bodyPr wrap="square" lIns="0" rIns="0" tIns="0" bIns="0" anchor="t">
            <a:spAutoFit/>
          </a:bodyPr>
          <a:lstStyle/>
          <a:p>
            <a:pPr algn="ctr"/>
            <a:r>
              <a:rPr sz="5400" b="1" i="0">
                <a:solidFill>
                  <a:srgbClr val="2E7D32"/>
                </a:solidFill>
                <a:latin typeface="Calibri"/>
              </a:rPr>
              <a:t>18 / 18</a:t>
            </a:r>
          </a:p>
        </p:txBody>
      </p:sp>
      <p:sp>
        <p:nvSpPr>
          <p:cNvPr id="8" name="TextBox 7"/>
          <p:cNvSpPr txBox="1"/>
          <p:nvPr/>
        </p:nvSpPr>
        <p:spPr>
          <a:xfrm>
            <a:off x="640080" y="3474720"/>
            <a:ext cx="3291840" cy="457200"/>
          </a:xfrm>
          <a:prstGeom prst="rect">
            <a:avLst/>
          </a:prstGeom>
          <a:noFill/>
        </p:spPr>
        <p:txBody>
          <a:bodyPr wrap="square" lIns="0" rIns="0" tIns="0" bIns="0" anchor="t">
            <a:spAutoFit/>
          </a:bodyPr>
          <a:lstStyle/>
          <a:p>
            <a:pPr algn="ctr"/>
            <a:r>
              <a:rPr sz="1800" b="0" i="0">
                <a:solidFill>
                  <a:srgbClr val="5F6B78"/>
                </a:solidFill>
                <a:latin typeface="Calibri"/>
              </a:rPr>
              <a:t>test cases passed</a:t>
            </a:r>
          </a:p>
        </p:txBody>
      </p:sp>
      <p:sp>
        <p:nvSpPr>
          <p:cNvPr id="9" name="TextBox 8"/>
          <p:cNvSpPr txBox="1"/>
          <p:nvPr/>
        </p:nvSpPr>
        <p:spPr>
          <a:xfrm>
            <a:off x="640080" y="4114800"/>
            <a:ext cx="3291840" cy="914400"/>
          </a:xfrm>
          <a:prstGeom prst="rect">
            <a:avLst/>
          </a:prstGeom>
          <a:noFill/>
        </p:spPr>
        <p:txBody>
          <a:bodyPr wrap="square" lIns="0" rIns="0" tIns="0" bIns="0" anchor="t">
            <a:spAutoFit/>
          </a:bodyPr>
          <a:lstStyle/>
          <a:p>
            <a:pPr algn="ctr"/>
            <a:r>
              <a:rPr sz="1400" b="0" i="0">
                <a:solidFill>
                  <a:srgbClr val="5F6B78"/>
                </a:solidFill>
                <a:latin typeface="Calibri"/>
              </a:rPr>
              <a:t>plus the home page, all 13 role</a:t>
            </a:r>
          </a:p>
          <a:p>
            <a:pPr algn="ctr"/>
            <a:r>
              <a:rPr sz="1400" b="0" i="0">
                <a:solidFill>
                  <a:srgbClr val="5F6B78"/>
                </a:solidFill>
                <a:latin typeface="Calibri"/>
              </a:rPr>
              <a:t>screens and the 8 demo steps</a:t>
            </a:r>
          </a:p>
          <a:p>
            <a:pPr algn="ctr"/>
            <a:r>
              <a:rPr sz="1400" b="0" i="0">
                <a:solidFill>
                  <a:srgbClr val="5F6B78"/>
                </a:solidFill>
                <a:latin typeface="Calibri"/>
              </a:rPr>
              <a:t>opened without errors</a:t>
            </a:r>
          </a:p>
        </p:txBody>
      </p:sp>
      <p:sp>
        <p:nvSpPr>
          <p:cNvPr id="10" name="TextBox 9"/>
          <p:cNvSpPr txBox="1"/>
          <p:nvPr/>
        </p:nvSpPr>
        <p:spPr>
          <a:xfrm>
            <a:off x="4480560" y="2011680"/>
            <a:ext cx="7132320" cy="3657600"/>
          </a:xfrm>
          <a:prstGeom prst="rect">
            <a:avLst/>
          </a:prstGeom>
          <a:noFill/>
        </p:spPr>
        <p:txBody>
          <a:bodyPr wrap="square" lIns="0" rIns="0" tIns="0" bIns="0">
            <a:spAutoFit/>
          </a:bodyPr>
          <a:lstStyle/>
          <a:p>
            <a:pPr marL="256032" indent="-256032">
              <a:spcAft>
                <a:spcPts val="1400"/>
              </a:spcAft>
              <a:buClr>
                <a:srgbClr val="C62828"/>
              </a:buClr>
              <a:buChar char="•"/>
            </a:pPr>
            <a:r>
              <a:rPr b="1" sz="1800">
                <a:solidFill>
                  <a:srgbClr val="1F2933"/>
                </a:solidFill>
                <a:latin typeface="Calibri"/>
              </a:rPr>
              <a:t>Security: </a:t>
            </a:r>
            <a:r>
              <a:rPr sz="1800">
                <a:solidFill>
                  <a:srgbClr val="1F2933"/>
                </a:solidFill>
                <a:latin typeface="Calibri"/>
              </a:rPr>
              <a:t>wrong password, missing token and wrong role are all rejected</a:t>
            </a:r>
          </a:p>
          <a:p>
            <a:pPr marL="256032" indent="-256032">
              <a:spcAft>
                <a:spcPts val="1400"/>
              </a:spcAft>
              <a:buClr>
                <a:srgbClr val="C62828"/>
              </a:buClr>
              <a:buChar char="•"/>
            </a:pPr>
            <a:r>
              <a:rPr b="1" sz="1800">
                <a:solidFill>
                  <a:srgbClr val="1F2933"/>
                </a:solidFill>
                <a:latin typeface="Calibri"/>
              </a:rPr>
              <a:t>Validation: </a:t>
            </a:r>
            <a:r>
              <a:rPr sz="1800">
                <a:solidFill>
                  <a:srgbClr val="1F2933"/>
                </a:solidFill>
                <a:latin typeface="Calibri"/>
              </a:rPr>
              <a:t>invalid blood group, bad haemoglobin value and bad input return clear errors</a:t>
            </a:r>
          </a:p>
          <a:p>
            <a:pPr marL="256032" indent="-256032">
              <a:spcAft>
                <a:spcPts val="1400"/>
              </a:spcAft>
              <a:buClr>
                <a:srgbClr val="C62828"/>
              </a:buClr>
              <a:buChar char="•"/>
            </a:pPr>
            <a:r>
              <a:rPr b="1" sz="1800">
                <a:solidFill>
                  <a:srgbClr val="1F2933"/>
                </a:solidFill>
                <a:latin typeface="Calibri"/>
              </a:rPr>
              <a:t>Stock logic: </a:t>
            </a:r>
            <a:r>
              <a:rPr sz="1800">
                <a:solidFill>
                  <a:srgbClr val="1F2933"/>
                </a:solidFill>
                <a:latin typeface="Calibri"/>
              </a:rPr>
              <a:t>short stock fails, compatible issue works, double issue is blocked</a:t>
            </a:r>
          </a:p>
          <a:p>
            <a:pPr marL="256032" indent="-256032">
              <a:spcAft>
                <a:spcPts val="1400"/>
              </a:spcAft>
              <a:buClr>
                <a:srgbClr val="C62828"/>
              </a:buClr>
              <a:buChar char="•"/>
            </a:pPr>
            <a:r>
              <a:rPr b="1" sz="1800">
                <a:solidFill>
                  <a:srgbClr val="1F2933"/>
                </a:solidFill>
                <a:latin typeface="Calibri"/>
              </a:rPr>
              <a:t>Camps and rules: </a:t>
            </a:r>
            <a:r>
              <a:rPr sz="1800">
                <a:solidFill>
                  <a:srgbClr val="1F2933"/>
                </a:solidFill>
                <a:latin typeface="Calibri"/>
              </a:rPr>
              <a:t>double booking blocked; donation adds a unit; low haemoglobin is not eligible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TEAM WORK</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Each member owns one module from database to screen</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20</a:t>
            </a:r>
          </a:p>
        </p:txBody>
      </p:sp>
      <p:graphicFrame>
        <p:nvGraphicFramePr>
          <p:cNvPr id="6" name="Table 5"/>
          <p:cNvGraphicFramePr>
            <a:graphicFrameLocks noGrp="1"/>
          </p:cNvGraphicFramePr>
          <p:nvPr/>
        </p:nvGraphicFramePr>
        <p:xfrm>
          <a:off x="640080" y="1920240"/>
          <a:ext cx="10911535" cy="3840480"/>
        </p:xfrm>
        <a:graphic>
          <a:graphicData uri="http://schemas.openxmlformats.org/drawingml/2006/table">
            <a:tbl>
              <a:tblPr firstRow="1" bandRow="1">
                <a:tableStyleId>{5C22544A-7EE6-4342-B048-85BDC9FD1C3A}</a:tableStyleId>
              </a:tblPr>
              <a:tblGrid>
                <a:gridCol w="1828800"/>
                <a:gridCol w="3931920"/>
                <a:gridCol w="5150815"/>
              </a:tblGrid>
              <a:tr h="640080">
                <a:tc>
                  <a:txBody>
                    <a:bodyPr/>
                    <a:lstStyle/>
                    <a:p>
                      <a:r>
                        <a:rPr sz="1600" b="1">
                          <a:solidFill>
                            <a:srgbClr val="FFFFFF"/>
                          </a:solidFill>
                          <a:latin typeface="Calibri"/>
                        </a:rPr>
                        <a:t>Member</a:t>
                      </a:r>
                    </a:p>
                  </a:txBody>
                  <a:tcPr>
                    <a:solidFill>
                      <a:srgbClr val="C62828"/>
                    </a:solidFill>
                  </a:tcPr>
                </a:tc>
                <a:tc>
                  <a:txBody>
                    <a:bodyPr/>
                    <a:lstStyle/>
                    <a:p>
                      <a:r>
                        <a:rPr sz="1600" b="1">
                          <a:solidFill>
                            <a:srgbClr val="FFFFFF"/>
                          </a:solidFill>
                          <a:latin typeface="Calibri"/>
                        </a:rPr>
                        <a:t>Module</a:t>
                      </a:r>
                    </a:p>
                  </a:txBody>
                  <a:tcPr>
                    <a:solidFill>
                      <a:srgbClr val="C62828"/>
                    </a:solidFill>
                  </a:tcPr>
                </a:tc>
                <a:tc>
                  <a:txBody>
                    <a:bodyPr/>
                    <a:lstStyle/>
                    <a:p>
                      <a:r>
                        <a:rPr sz="1600" b="1">
                          <a:solidFill>
                            <a:srgbClr val="FFFFFF"/>
                          </a:solidFill>
                          <a:latin typeface="Calibri"/>
                        </a:rPr>
                        <a:t>What they present</a:t>
                      </a:r>
                    </a:p>
                  </a:txBody>
                  <a:tcPr>
                    <a:solidFill>
                      <a:srgbClr val="C62828"/>
                    </a:solidFill>
                  </a:tcPr>
                </a:tc>
              </a:tr>
              <a:tr h="640080">
                <a:tc>
                  <a:txBody>
                    <a:bodyPr/>
                    <a:lstStyle/>
                    <a:p>
                      <a:r>
                        <a:rPr sz="1600" b="1">
                          <a:solidFill>
                            <a:srgbClr val="1F2933"/>
                          </a:solidFill>
                          <a:latin typeface="Calibri"/>
                        </a:rPr>
                        <a:t>Member 1</a:t>
                      </a:r>
                    </a:p>
                  </a:txBody>
                  <a:tcPr anchor="ctr">
                    <a:solidFill>
                      <a:srgbClr val="FFFFFF"/>
                    </a:solidFill>
                  </a:tcPr>
                </a:tc>
                <a:tc>
                  <a:txBody>
                    <a:bodyPr/>
                    <a:lstStyle/>
                    <a:p>
                      <a:r>
                        <a:rPr sz="1600" b="0">
                          <a:solidFill>
                            <a:srgbClr val="1F2933"/>
                          </a:solidFill>
                          <a:latin typeface="Calibri"/>
                        </a:rPr>
                        <a:t>Authentication, security, home page design</a:t>
                      </a:r>
                    </a:p>
                  </a:txBody>
                  <a:tcPr anchor="ctr">
                    <a:solidFill>
                      <a:srgbClr val="FFFFFF"/>
                    </a:solidFill>
                  </a:tcPr>
                </a:tc>
                <a:tc>
                  <a:txBody>
                    <a:bodyPr/>
                    <a:lstStyle/>
                    <a:p>
                      <a:r>
                        <a:rPr sz="1600" b="0">
                          <a:solidFill>
                            <a:srgbClr val="1F2933"/>
                          </a:solidFill>
                          <a:latin typeface="Calibri"/>
                        </a:rPr>
                        <a:t>Login, register, hashing, roles, look and feel</a:t>
                      </a:r>
                    </a:p>
                  </a:txBody>
                  <a:tcPr anchor="ctr">
                    <a:solidFill>
                      <a:srgbClr val="FFFFFF"/>
                    </a:solidFill>
                  </a:tcPr>
                </a:tc>
              </a:tr>
              <a:tr h="640080">
                <a:tc>
                  <a:txBody>
                    <a:bodyPr/>
                    <a:lstStyle/>
                    <a:p>
                      <a:r>
                        <a:rPr sz="1600" b="1">
                          <a:solidFill>
                            <a:srgbClr val="1F2933"/>
                          </a:solidFill>
                          <a:latin typeface="Calibri"/>
                        </a:rPr>
                        <a:t>Member 2</a:t>
                      </a:r>
                    </a:p>
                  </a:txBody>
                  <a:tcPr anchor="ctr">
                    <a:solidFill>
                      <a:srgbClr val="FBF1F1"/>
                    </a:solidFill>
                  </a:tcPr>
                </a:tc>
                <a:tc>
                  <a:txBody>
                    <a:bodyPr/>
                    <a:lstStyle/>
                    <a:p>
                      <a:r>
                        <a:rPr sz="1600" b="0">
                          <a:solidFill>
                            <a:srgbClr val="1F2933"/>
                          </a:solidFill>
                          <a:latin typeface="Calibri"/>
                        </a:rPr>
                        <a:t>Donor module</a:t>
                      </a:r>
                    </a:p>
                  </a:txBody>
                  <a:tcPr anchor="ctr">
                    <a:solidFill>
                      <a:srgbClr val="FBF1F1"/>
                    </a:solidFill>
                  </a:tcPr>
                </a:tc>
                <a:tc>
                  <a:txBody>
                    <a:bodyPr/>
                    <a:lstStyle/>
                    <a:p>
                      <a:r>
                        <a:rPr sz="1600" b="0">
                          <a:solidFill>
                            <a:srgbClr val="1F2933"/>
                          </a:solidFill>
                          <a:latin typeface="Calibri"/>
                        </a:rPr>
                        <a:t>Eligibility rules, profile, donor search</a:t>
                      </a:r>
                    </a:p>
                  </a:txBody>
                  <a:tcPr anchor="ctr">
                    <a:solidFill>
                      <a:srgbClr val="FBF1F1"/>
                    </a:solidFill>
                  </a:tcPr>
                </a:tc>
              </a:tr>
              <a:tr h="640080">
                <a:tc>
                  <a:txBody>
                    <a:bodyPr/>
                    <a:lstStyle/>
                    <a:p>
                      <a:r>
                        <a:rPr sz="1600" b="1">
                          <a:solidFill>
                            <a:srgbClr val="1F2933"/>
                          </a:solidFill>
                          <a:latin typeface="Calibri"/>
                        </a:rPr>
                        <a:t>Member 3</a:t>
                      </a:r>
                    </a:p>
                  </a:txBody>
                  <a:tcPr anchor="ctr">
                    <a:solidFill>
                      <a:srgbClr val="FFFFFF"/>
                    </a:solidFill>
                  </a:tcPr>
                </a:tc>
                <a:tc>
                  <a:txBody>
                    <a:bodyPr/>
                    <a:lstStyle/>
                    <a:p>
                      <a:r>
                        <a:rPr sz="1600" b="0">
                          <a:solidFill>
                            <a:srgbClr val="1F2933"/>
                          </a:solidFill>
                          <a:latin typeface="Calibri"/>
                        </a:rPr>
                        <a:t>Inventory and dashboard</a:t>
                      </a:r>
                    </a:p>
                  </a:txBody>
                  <a:tcPr anchor="ctr">
                    <a:solidFill>
                      <a:srgbClr val="FFFFFF"/>
                    </a:solidFill>
                  </a:tcPr>
                </a:tc>
                <a:tc>
                  <a:txBody>
                    <a:bodyPr/>
                    <a:lstStyle/>
                    <a:p>
                      <a:r>
                        <a:rPr sz="1600" b="0">
                          <a:solidFill>
                            <a:srgbClr val="1F2933"/>
                          </a:solidFill>
                          <a:latin typeface="Calibri"/>
                        </a:rPr>
                        <a:t>Stock, expiry, alerts, charts</a:t>
                      </a:r>
                    </a:p>
                  </a:txBody>
                  <a:tcPr anchor="ctr">
                    <a:solidFill>
                      <a:srgbClr val="FFFFFF"/>
                    </a:solidFill>
                  </a:tcPr>
                </a:tc>
              </a:tr>
              <a:tr h="640080">
                <a:tc>
                  <a:txBody>
                    <a:bodyPr/>
                    <a:lstStyle/>
                    <a:p>
                      <a:r>
                        <a:rPr sz="1600" b="1">
                          <a:solidFill>
                            <a:srgbClr val="1F2933"/>
                          </a:solidFill>
                          <a:latin typeface="Calibri"/>
                        </a:rPr>
                        <a:t>Member 4</a:t>
                      </a:r>
                    </a:p>
                  </a:txBody>
                  <a:tcPr anchor="ctr">
                    <a:solidFill>
                      <a:srgbClr val="FBF1F1"/>
                    </a:solidFill>
                  </a:tcPr>
                </a:tc>
                <a:tc>
                  <a:txBody>
                    <a:bodyPr/>
                    <a:lstStyle/>
                    <a:p>
                      <a:r>
                        <a:rPr sz="1600" b="0">
                          <a:solidFill>
                            <a:srgbClr val="1F2933"/>
                          </a:solidFill>
                          <a:latin typeface="Calibri"/>
                        </a:rPr>
                        <a:t>Hospital and requests</a:t>
                      </a:r>
                    </a:p>
                  </a:txBody>
                  <a:tcPr anchor="ctr">
                    <a:solidFill>
                      <a:srgbClr val="FBF1F1"/>
                    </a:solidFill>
                  </a:tcPr>
                </a:tc>
                <a:tc>
                  <a:txBody>
                    <a:bodyPr/>
                    <a:lstStyle/>
                    <a:p>
                      <a:r>
                        <a:rPr sz="1600" b="0">
                          <a:solidFill>
                            <a:srgbClr val="1F2933"/>
                          </a:solidFill>
                          <a:latin typeface="Calibri"/>
                        </a:rPr>
                        <a:t>Request workflow, FIFO issue, compatibility</a:t>
                      </a:r>
                    </a:p>
                  </a:txBody>
                  <a:tcPr anchor="ctr">
                    <a:solidFill>
                      <a:srgbClr val="FBF1F1"/>
                    </a:solidFill>
                  </a:tcPr>
                </a:tc>
              </a:tr>
              <a:tr h="640080">
                <a:tc>
                  <a:txBody>
                    <a:bodyPr/>
                    <a:lstStyle/>
                    <a:p>
                      <a:r>
                        <a:rPr sz="1600" b="1">
                          <a:solidFill>
                            <a:srgbClr val="1F2933"/>
                          </a:solidFill>
                          <a:latin typeface="Calibri"/>
                        </a:rPr>
                        <a:t>Member 5</a:t>
                      </a:r>
                    </a:p>
                  </a:txBody>
                  <a:tcPr anchor="ctr">
                    <a:solidFill>
                      <a:srgbClr val="FFFFFF"/>
                    </a:solidFill>
                  </a:tcPr>
                </a:tc>
                <a:tc>
                  <a:txBody>
                    <a:bodyPr/>
                    <a:lstStyle/>
                    <a:p>
                      <a:r>
                        <a:rPr sz="1600" b="0">
                          <a:solidFill>
                            <a:srgbClr val="1F2933"/>
                          </a:solidFill>
                          <a:latin typeface="Calibri"/>
                        </a:rPr>
                        <a:t>Camps, database, public API, demo mode, testing</a:t>
                      </a:r>
                    </a:p>
                  </a:txBody>
                  <a:tcPr anchor="ctr">
                    <a:solidFill>
                      <a:srgbClr val="FFFFFF"/>
                    </a:solidFill>
                  </a:tcPr>
                </a:tc>
                <a:tc>
                  <a:txBody>
                    <a:bodyPr/>
                    <a:lstStyle/>
                    <a:p>
                      <a:r>
                        <a:rPr sz="1600" b="0">
                          <a:solidFill>
                            <a:srgbClr val="1F2933"/>
                          </a:solidFill>
                          <a:latin typeface="Calibri"/>
                        </a:rPr>
                        <a:t>ER design, camps, home page data, demo mode, test cases</a:t>
                      </a:r>
                    </a:p>
                  </a:txBody>
                  <a:tcPr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4F2"/>
        </a:solidFill>
        <a:effectLst/>
      </p:bgPr>
    </p:bg>
    <p:spTree>
      <p:nvGrpSpPr>
        <p:cNvPr id="1" name=""/>
        <p:cNvGrpSpPr/>
        <p:nvPr/>
      </p:nvGrpSpPr>
      <p:grpSpPr/>
      <p:sp>
        <p:nvSpPr>
          <p:cNvPr id="2" name="TextBox 1"/>
          <p:cNvSpPr txBox="1"/>
          <p:nvPr/>
        </p:nvSpPr>
        <p:spPr>
          <a:xfrm>
            <a:off x="640080" y="411480"/>
            <a:ext cx="10911535" cy="274320"/>
          </a:xfrm>
          <a:prstGeom prst="rect">
            <a:avLst/>
          </a:prstGeom>
          <a:noFill/>
        </p:spPr>
        <p:txBody>
          <a:bodyPr wrap="square" lIns="0" rIns="0" tIns="0" bIns="0" anchor="t">
            <a:spAutoFit/>
          </a:bodyPr>
          <a:lstStyle/>
          <a:p>
            <a:pPr algn="l"/>
            <a:r>
              <a:rPr sz="1200" b="1" i="0">
                <a:solidFill>
                  <a:srgbClr val="C62828"/>
                </a:solidFill>
                <a:latin typeface="Calibri"/>
              </a:rPr>
              <a:t>FUTURE SCOPE</a:t>
            </a:r>
          </a:p>
        </p:txBody>
      </p:sp>
      <p:sp>
        <p:nvSpPr>
          <p:cNvPr id="3" name="TextBox 2"/>
          <p:cNvSpPr txBox="1"/>
          <p:nvPr/>
        </p:nvSpPr>
        <p:spPr>
          <a:xfrm>
            <a:off x="640080" y="685800"/>
            <a:ext cx="10911535" cy="914400"/>
          </a:xfrm>
          <a:prstGeom prst="rect">
            <a:avLst/>
          </a:prstGeom>
          <a:noFill/>
        </p:spPr>
        <p:txBody>
          <a:bodyPr wrap="square" lIns="0" rIns="0" tIns="0" bIns="0" anchor="t">
            <a:spAutoFit/>
          </a:bodyPr>
          <a:lstStyle/>
          <a:p>
            <a:pPr algn="l"/>
            <a:r>
              <a:rPr sz="3000" b="1" i="0">
                <a:solidFill>
                  <a:srgbClr val="1F2933"/>
                </a:solidFill>
                <a:latin typeface="Calibri"/>
              </a:rPr>
              <a:t>Next steps: alerts, maps and stronger security</a:t>
            </a:r>
          </a:p>
        </p:txBody>
      </p:sp>
      <p:sp>
        <p:nvSpPr>
          <p:cNvPr id="4" name="TextBox 3"/>
          <p:cNvSpPr txBox="1"/>
          <p:nvPr/>
        </p:nvSpPr>
        <p:spPr>
          <a:xfrm>
            <a:off x="640080" y="6446520"/>
            <a:ext cx="5486400" cy="228600"/>
          </a:xfrm>
          <a:prstGeom prst="rect">
            <a:avLst/>
          </a:prstGeom>
          <a:noFill/>
        </p:spPr>
        <p:txBody>
          <a:bodyPr wrap="square" lIns="0" rIns="0" tIns="0" bIns="0" anchor="t">
            <a:spAutoFit/>
          </a:bodyPr>
          <a:lstStyle/>
          <a:p>
            <a:pPr algn="l"/>
            <a:r>
              <a:rPr sz="1000" b="0" i="0">
                <a:solidFill>
                  <a:srgbClr val="5F6B78"/>
                </a:solidFill>
                <a:latin typeface="Calibri"/>
              </a:rPr>
              <a:t>LifeDrop  |  Blood Bank Management System</a:t>
            </a:r>
          </a:p>
        </p:txBody>
      </p:sp>
      <p:sp>
        <p:nvSpPr>
          <p:cNvPr id="5" name="TextBox 4"/>
          <p:cNvSpPr txBox="1"/>
          <p:nvPr/>
        </p:nvSpPr>
        <p:spPr>
          <a:xfrm>
            <a:off x="10637215" y="6446520"/>
            <a:ext cx="914400" cy="228600"/>
          </a:xfrm>
          <a:prstGeom prst="rect">
            <a:avLst/>
          </a:prstGeom>
          <a:noFill/>
        </p:spPr>
        <p:txBody>
          <a:bodyPr wrap="square" lIns="0" rIns="0" tIns="0" bIns="0" anchor="t">
            <a:spAutoFit/>
          </a:bodyPr>
          <a:lstStyle/>
          <a:p>
            <a:pPr algn="r"/>
            <a:r>
              <a:rPr sz="1000" b="0" i="0">
                <a:solidFill>
                  <a:srgbClr val="5F6B78"/>
                </a:solidFill>
                <a:latin typeface="Calibri"/>
              </a:rPr>
              <a:t>21</a:t>
            </a:r>
          </a:p>
        </p:txBody>
      </p:sp>
      <p:sp>
        <p:nvSpPr>
          <p:cNvPr id="6" name="Rectangle 5"/>
          <p:cNvSpPr/>
          <p:nvPr/>
        </p:nvSpPr>
        <p:spPr>
          <a:xfrm>
            <a:off x="640080" y="1920240"/>
            <a:ext cx="3454298" cy="192024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194560"/>
            <a:ext cx="2905658" cy="457200"/>
          </a:xfrm>
          <a:prstGeom prst="rect">
            <a:avLst/>
          </a:prstGeom>
          <a:noFill/>
        </p:spPr>
        <p:txBody>
          <a:bodyPr wrap="square" lIns="0" rIns="0" tIns="0" bIns="0" anchor="t">
            <a:spAutoFit/>
          </a:bodyPr>
          <a:lstStyle/>
          <a:p>
            <a:pPr algn="l"/>
            <a:r>
              <a:rPr sz="1900" b="1" i="0">
                <a:solidFill>
                  <a:srgbClr val="C62828"/>
                </a:solidFill>
                <a:latin typeface="Calibri"/>
              </a:rPr>
              <a:t>SMS and email alerts</a:t>
            </a:r>
          </a:p>
        </p:txBody>
      </p:sp>
      <p:sp>
        <p:nvSpPr>
          <p:cNvPr id="8" name="TextBox 7"/>
          <p:cNvSpPr txBox="1"/>
          <p:nvPr/>
        </p:nvSpPr>
        <p:spPr>
          <a:xfrm>
            <a:off x="914400" y="2788920"/>
            <a:ext cx="2905658" cy="914400"/>
          </a:xfrm>
          <a:prstGeom prst="rect">
            <a:avLst/>
          </a:prstGeom>
          <a:noFill/>
        </p:spPr>
        <p:txBody>
          <a:bodyPr wrap="square" lIns="0" rIns="0" tIns="0" bIns="0" anchor="t">
            <a:spAutoFit/>
          </a:bodyPr>
          <a:lstStyle/>
          <a:p>
            <a:pPr algn="l"/>
            <a:r>
              <a:rPr sz="1500" b="0" i="0">
                <a:solidFill>
                  <a:srgbClr val="5F6B78"/>
                </a:solidFill>
                <a:latin typeface="Calibri"/>
              </a:rPr>
              <a:t>Notify matching donors when a critical request arrives</a:t>
            </a:r>
          </a:p>
        </p:txBody>
      </p:sp>
      <p:sp>
        <p:nvSpPr>
          <p:cNvPr id="9" name="Rectangle 8"/>
          <p:cNvSpPr/>
          <p:nvPr/>
        </p:nvSpPr>
        <p:spPr>
          <a:xfrm>
            <a:off x="4368698" y="1920240"/>
            <a:ext cx="3454298" cy="192024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43018" y="2194560"/>
            <a:ext cx="2905658" cy="457200"/>
          </a:xfrm>
          <a:prstGeom prst="rect">
            <a:avLst/>
          </a:prstGeom>
          <a:noFill/>
        </p:spPr>
        <p:txBody>
          <a:bodyPr wrap="square" lIns="0" rIns="0" tIns="0" bIns="0" anchor="t">
            <a:spAutoFit/>
          </a:bodyPr>
          <a:lstStyle/>
          <a:p>
            <a:pPr algn="l"/>
            <a:r>
              <a:rPr sz="1900" b="1" i="0">
                <a:solidFill>
                  <a:srgbClr val="C62828"/>
                </a:solidFill>
                <a:latin typeface="Calibri"/>
              </a:rPr>
              <a:t>Map of blood banks</a:t>
            </a:r>
          </a:p>
        </p:txBody>
      </p:sp>
      <p:sp>
        <p:nvSpPr>
          <p:cNvPr id="11" name="TextBox 10"/>
          <p:cNvSpPr txBox="1"/>
          <p:nvPr/>
        </p:nvSpPr>
        <p:spPr>
          <a:xfrm>
            <a:off x="4643018" y="2788920"/>
            <a:ext cx="2905658" cy="914400"/>
          </a:xfrm>
          <a:prstGeom prst="rect">
            <a:avLst/>
          </a:prstGeom>
          <a:noFill/>
        </p:spPr>
        <p:txBody>
          <a:bodyPr wrap="square" lIns="0" rIns="0" tIns="0" bIns="0" anchor="t">
            <a:spAutoFit/>
          </a:bodyPr>
          <a:lstStyle/>
          <a:p>
            <a:pPr algn="l"/>
            <a:r>
              <a:rPr sz="1500" b="0" i="0">
                <a:solidFill>
                  <a:srgbClr val="5F6B78"/>
                </a:solidFill>
                <a:latin typeface="Calibri"/>
              </a:rPr>
              <a:t>Nearby banks and camps on an OpenStreetMap view</a:t>
            </a:r>
          </a:p>
        </p:txBody>
      </p:sp>
      <p:sp>
        <p:nvSpPr>
          <p:cNvPr id="12" name="Rectangle 11"/>
          <p:cNvSpPr/>
          <p:nvPr/>
        </p:nvSpPr>
        <p:spPr>
          <a:xfrm>
            <a:off x="8097316" y="1920240"/>
            <a:ext cx="3454298" cy="192024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71636" y="2194560"/>
            <a:ext cx="2905658" cy="457200"/>
          </a:xfrm>
          <a:prstGeom prst="rect">
            <a:avLst/>
          </a:prstGeom>
          <a:noFill/>
        </p:spPr>
        <p:txBody>
          <a:bodyPr wrap="square" lIns="0" rIns="0" tIns="0" bIns="0" anchor="t">
            <a:spAutoFit/>
          </a:bodyPr>
          <a:lstStyle/>
          <a:p>
            <a:pPr algn="l"/>
            <a:r>
              <a:rPr sz="1900" b="1" i="0">
                <a:solidFill>
                  <a:srgbClr val="C62828"/>
                </a:solidFill>
                <a:latin typeface="Calibri"/>
              </a:rPr>
              <a:t>Reports and certificates</a:t>
            </a:r>
          </a:p>
        </p:txBody>
      </p:sp>
      <p:sp>
        <p:nvSpPr>
          <p:cNvPr id="14" name="TextBox 13"/>
          <p:cNvSpPr txBox="1"/>
          <p:nvPr/>
        </p:nvSpPr>
        <p:spPr>
          <a:xfrm>
            <a:off x="8371636" y="2788920"/>
            <a:ext cx="2905658" cy="914400"/>
          </a:xfrm>
          <a:prstGeom prst="rect">
            <a:avLst/>
          </a:prstGeom>
          <a:noFill/>
        </p:spPr>
        <p:txBody>
          <a:bodyPr wrap="square" lIns="0" rIns="0" tIns="0" bIns="0" anchor="t">
            <a:spAutoFit/>
          </a:bodyPr>
          <a:lstStyle/>
          <a:p>
            <a:pPr algn="l"/>
            <a:r>
              <a:rPr sz="1500" b="0" i="0">
                <a:solidFill>
                  <a:srgbClr val="5F6B78"/>
                </a:solidFill>
                <a:latin typeface="Calibri"/>
              </a:rPr>
              <a:t>PDF and Excel export, donor certificate after donation</a:t>
            </a:r>
          </a:p>
        </p:txBody>
      </p:sp>
      <p:sp>
        <p:nvSpPr>
          <p:cNvPr id="15" name="Rectangle 14"/>
          <p:cNvSpPr/>
          <p:nvPr/>
        </p:nvSpPr>
        <p:spPr>
          <a:xfrm>
            <a:off x="640080" y="4114800"/>
            <a:ext cx="3454298" cy="192024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4389120"/>
            <a:ext cx="2905658" cy="457200"/>
          </a:xfrm>
          <a:prstGeom prst="rect">
            <a:avLst/>
          </a:prstGeom>
          <a:noFill/>
        </p:spPr>
        <p:txBody>
          <a:bodyPr wrap="square" lIns="0" rIns="0" tIns="0" bIns="0" anchor="t">
            <a:spAutoFit/>
          </a:bodyPr>
          <a:lstStyle/>
          <a:p>
            <a:pPr algn="l"/>
            <a:r>
              <a:rPr sz="1900" b="1" i="0">
                <a:solidFill>
                  <a:srgbClr val="C62828"/>
                </a:solidFill>
                <a:latin typeface="Calibri"/>
              </a:rPr>
              <a:t>Stronger security</a:t>
            </a:r>
          </a:p>
        </p:txBody>
      </p:sp>
      <p:sp>
        <p:nvSpPr>
          <p:cNvPr id="17" name="TextBox 16"/>
          <p:cNvSpPr txBox="1"/>
          <p:nvPr/>
        </p:nvSpPr>
        <p:spPr>
          <a:xfrm>
            <a:off x="914400" y="4983480"/>
            <a:ext cx="2905658" cy="914400"/>
          </a:xfrm>
          <a:prstGeom prst="rect">
            <a:avLst/>
          </a:prstGeom>
          <a:noFill/>
        </p:spPr>
        <p:txBody>
          <a:bodyPr wrap="square" lIns="0" rIns="0" tIns="0" bIns="0" anchor="t">
            <a:spAutoFit/>
          </a:bodyPr>
          <a:lstStyle/>
          <a:p>
            <a:pPr algn="l"/>
            <a:r>
              <a:rPr sz="1500" b="0" i="0">
                <a:solidFill>
                  <a:srgbClr val="5F6B78"/>
                </a:solidFill>
                <a:latin typeface="Calibri"/>
              </a:rPr>
              <a:t>Token expiry, HTTPS, login attempt limits, audit log</a:t>
            </a:r>
          </a:p>
        </p:txBody>
      </p:sp>
      <p:sp>
        <p:nvSpPr>
          <p:cNvPr id="18" name="Rectangle 17"/>
          <p:cNvSpPr/>
          <p:nvPr/>
        </p:nvSpPr>
        <p:spPr>
          <a:xfrm>
            <a:off x="4368698" y="4114800"/>
            <a:ext cx="3454298" cy="192024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43018" y="4389120"/>
            <a:ext cx="2905658" cy="457200"/>
          </a:xfrm>
          <a:prstGeom prst="rect">
            <a:avLst/>
          </a:prstGeom>
          <a:noFill/>
        </p:spPr>
        <p:txBody>
          <a:bodyPr wrap="square" lIns="0" rIns="0" tIns="0" bIns="0" anchor="t">
            <a:spAutoFit/>
          </a:bodyPr>
          <a:lstStyle/>
          <a:p>
            <a:pPr algn="l"/>
            <a:r>
              <a:rPr sz="1900" b="1" i="0">
                <a:solidFill>
                  <a:srgbClr val="C62828"/>
                </a:solidFill>
                <a:latin typeface="Calibri"/>
              </a:rPr>
              <a:t>Multiple branches</a:t>
            </a:r>
          </a:p>
        </p:txBody>
      </p:sp>
      <p:sp>
        <p:nvSpPr>
          <p:cNvPr id="20" name="TextBox 19"/>
          <p:cNvSpPr txBox="1"/>
          <p:nvPr/>
        </p:nvSpPr>
        <p:spPr>
          <a:xfrm>
            <a:off x="4643018" y="4983480"/>
            <a:ext cx="2905658" cy="914400"/>
          </a:xfrm>
          <a:prstGeom prst="rect">
            <a:avLst/>
          </a:prstGeom>
          <a:noFill/>
        </p:spPr>
        <p:txBody>
          <a:bodyPr wrap="square" lIns="0" rIns="0" tIns="0" bIns="0" anchor="t">
            <a:spAutoFit/>
          </a:bodyPr>
          <a:lstStyle/>
          <a:p>
            <a:pPr algn="l"/>
            <a:r>
              <a:rPr sz="1500" b="0" i="0">
                <a:solidFill>
                  <a:srgbClr val="5F6B78"/>
                </a:solidFill>
                <a:latin typeface="Calibri"/>
              </a:rPr>
              <a:t>Stock transfer between blood banks</a:t>
            </a:r>
          </a:p>
        </p:txBody>
      </p:sp>
      <p:sp>
        <p:nvSpPr>
          <p:cNvPr id="21" name="Rectangle 20"/>
          <p:cNvSpPr/>
          <p:nvPr/>
        </p:nvSpPr>
        <p:spPr>
          <a:xfrm>
            <a:off x="8097316" y="4114800"/>
            <a:ext cx="3454298" cy="1920240"/>
          </a:xfrm>
          <a:prstGeom prst="rect">
            <a:avLst/>
          </a:prstGeom>
          <a:solidFill>
            <a:srgbClr val="FFFFFF"/>
          </a:solidFill>
          <a:ln w="12700">
            <a:solidFill>
              <a:srgbClr val="E4E7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71636" y="4389120"/>
            <a:ext cx="2905658" cy="457200"/>
          </a:xfrm>
          <a:prstGeom prst="rect">
            <a:avLst/>
          </a:prstGeom>
          <a:noFill/>
        </p:spPr>
        <p:txBody>
          <a:bodyPr wrap="square" lIns="0" rIns="0" tIns="0" bIns="0" anchor="t">
            <a:spAutoFit/>
          </a:bodyPr>
          <a:lstStyle/>
          <a:p>
            <a:pPr algn="l"/>
            <a:r>
              <a:rPr sz="1900" b="1" i="0">
                <a:solidFill>
                  <a:srgbClr val="C62828"/>
                </a:solidFill>
                <a:latin typeface="Calibri"/>
              </a:rPr>
              <a:t>Demand forecasting</a:t>
            </a:r>
          </a:p>
        </p:txBody>
      </p:sp>
      <p:sp>
        <p:nvSpPr>
          <p:cNvPr id="23" name="TextBox 22"/>
          <p:cNvSpPr txBox="1"/>
          <p:nvPr/>
        </p:nvSpPr>
        <p:spPr>
          <a:xfrm>
            <a:off x="8371636" y="4983480"/>
            <a:ext cx="2905658" cy="914400"/>
          </a:xfrm>
          <a:prstGeom prst="rect">
            <a:avLst/>
          </a:prstGeom>
          <a:noFill/>
        </p:spPr>
        <p:txBody>
          <a:bodyPr wrap="square" lIns="0" rIns="0" tIns="0" bIns="0" anchor="t">
            <a:spAutoFit/>
          </a:bodyPr>
          <a:lstStyle/>
          <a:p>
            <a:pPr algn="l"/>
            <a:r>
              <a:rPr sz="1500" b="0" i="0">
                <a:solidFill>
                  <a:srgbClr val="5F6B78"/>
                </a:solidFill>
                <a:latin typeface="Calibri"/>
              </a:rPr>
              <a:t>Predict requests from history with machine learning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C62828"/>
        </a:solidFill>
        <a:effectLst/>
      </p:bgPr>
    </p:bg>
    <p:spTree>
      <p:nvGrpSpPr>
        <p:cNvPr id="1" name=""/>
        <p:cNvGrpSpPr/>
        <p:nvPr/>
      </p:nvGrpSpPr>
      <p:grpSpPr/>
      <p:pic>
        <p:nvPicPr>
          <p:cNvPr id="2" name="Picture 1" descr="logo-full-light.png"/>
          <p:cNvPicPr>
            <a:picLocks noChangeAspect="1"/>
          </p:cNvPicPr>
          <p:nvPr/>
        </p:nvPicPr>
        <p:blipFill>
          <a:blip r:embed="rId2"/>
          <a:stretch>
            <a:fillRect/>
          </a:stretch>
        </p:blipFill>
        <p:spPr>
          <a:xfrm>
            <a:off x="640080" y="1005840"/>
            <a:ext cx="4114800" cy="1097280"/>
          </a:xfrm>
          <a:prstGeom prst="rect">
            <a:avLst/>
          </a:prstGeom>
        </p:spPr>
      </p:pic>
      <p:sp>
        <p:nvSpPr>
          <p:cNvPr id="3" name="TextBox 2"/>
          <p:cNvSpPr txBox="1"/>
          <p:nvPr/>
        </p:nvSpPr>
        <p:spPr>
          <a:xfrm>
            <a:off x="640080" y="2468880"/>
            <a:ext cx="9144000" cy="1280160"/>
          </a:xfrm>
          <a:prstGeom prst="rect">
            <a:avLst/>
          </a:prstGeom>
          <a:noFill/>
        </p:spPr>
        <p:txBody>
          <a:bodyPr wrap="square" lIns="0" rIns="0" tIns="0" bIns="0" anchor="t">
            <a:spAutoFit/>
          </a:bodyPr>
          <a:lstStyle/>
          <a:p>
            <a:pPr algn="l"/>
            <a:r>
              <a:rPr sz="6000" b="1" i="0">
                <a:solidFill>
                  <a:srgbClr val="FFFFFF"/>
                </a:solidFill>
                <a:latin typeface="Calibri"/>
              </a:rPr>
              <a:t>Thank you</a:t>
            </a:r>
          </a:p>
        </p:txBody>
      </p:sp>
      <p:sp>
        <p:nvSpPr>
          <p:cNvPr id="4" name="TextBox 3"/>
          <p:cNvSpPr txBox="1"/>
          <p:nvPr/>
        </p:nvSpPr>
        <p:spPr>
          <a:xfrm>
            <a:off x="640080" y="3840480"/>
            <a:ext cx="8686800" cy="914400"/>
          </a:xfrm>
          <a:prstGeom prst="rect">
            <a:avLst/>
          </a:prstGeom>
          <a:noFill/>
        </p:spPr>
        <p:txBody>
          <a:bodyPr wrap="square" lIns="0" rIns="0" tIns="0" bIns="0" anchor="t">
            <a:spAutoFit/>
          </a:bodyPr>
          <a:lstStyle/>
          <a:p>
            <a:pPr algn="l"/>
            <a:r>
              <a:rPr sz="2200" b="0" i="0">
                <a:solidFill>
                  <a:srgbClr val="FFE9E7"/>
                </a:solidFill>
                <a:latin typeface="Calibri"/>
              </a:rPr>
              <a:t>Fewer wasted units, faster requests, and donors who are managed and valued.</a:t>
            </a:r>
          </a:p>
        </p:txBody>
      </p:sp>
      <p:sp>
        <p:nvSpPr>
          <p:cNvPr id="5" name="TextBox 4"/>
          <p:cNvSpPr txBox="1"/>
          <p:nvPr/>
        </p:nvSpPr>
        <p:spPr>
          <a:xfrm>
            <a:off x="640080" y="4937760"/>
            <a:ext cx="5486400" cy="731520"/>
          </a:xfrm>
          <a:prstGeom prst="rect">
            <a:avLst/>
          </a:prstGeom>
          <a:noFill/>
        </p:spPr>
        <p:txBody>
          <a:bodyPr wrap="square" lIns="0" rIns="0" tIns="0" bIns="0" anchor="t">
            <a:spAutoFit/>
          </a:bodyPr>
          <a:lstStyle/>
          <a:p>
            <a:pPr algn="l"/>
            <a:r>
              <a:rPr sz="3000" b="1" i="0">
                <a:solidFill>
                  <a:srgbClr val="FFFFFF"/>
                </a:solidFill>
                <a:latin typeface="Calibri"/>
              </a:rPr>
              <a:t>Questions?</a:t>
            </a:r>
          </a:p>
        </p:txBody>
      </p:sp>
      <p:sp>
        <p:nvSpPr>
          <p:cNvPr id="6" name="TextBox 5"/>
          <p:cNvSpPr txBox="1"/>
          <p:nvPr/>
        </p:nvSpPr>
        <p:spPr>
          <a:xfrm>
            <a:off x="640080" y="5989320"/>
            <a:ext cx="9144000" cy="365760"/>
          </a:xfrm>
          <a:prstGeom prst="rect">
            <a:avLst/>
          </a:prstGeom>
          <a:noFill/>
        </p:spPr>
        <p:txBody>
          <a:bodyPr wrap="square" lIns="0" rIns="0" tIns="0" bIns="0" anchor="t">
            <a:spAutoFit/>
          </a:bodyPr>
          <a:lstStyle/>
          <a:p>
            <a:pPr algn="l"/>
            <a:r>
              <a:rPr sz="1400" b="0" i="0">
                <a:solidFill>
                  <a:srgbClr val="FFD7D3"/>
                </a:solidFill>
                <a:latin typeface="Calibri"/>
              </a:rPr>
              <a:t>Code, database and documentation: BloodBankMS folder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